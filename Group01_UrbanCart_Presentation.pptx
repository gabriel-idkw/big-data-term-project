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1"/>
  </p:notesMasterIdLst>
  <p:handoutMasterIdLst>
    <p:handoutMasterId r:id="rId22"/>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8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88F4B7D-598E-44BB-A34C-AFFC0F46F8D1}"/>
              </a:ext>
            </a:extLst>
          </p:cNvPr>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4A20D06-CAD6-4F89-9335-F5D3EC9D7A30}"/>
              </a:ext>
            </a:extLst>
          </p:cNvPr>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958C60EB-3899-41E5-910B-38CC115E919B}" type="datetimeFigureOut">
              <a:rPr lang="en-US" smtClean="0"/>
              <a:t>11-Aug-26</a:t>
            </a:fld>
            <a:endParaRPr lang="en-US"/>
          </a:p>
        </p:txBody>
      </p:sp>
      <p:sp>
        <p:nvSpPr>
          <p:cNvPr id="4" name="Footer Placeholder 3">
            <a:extLst>
              <a:ext uri="{FF2B5EF4-FFF2-40B4-BE49-F238E27FC236}">
                <a16:creationId xmlns:a16="http://schemas.microsoft.com/office/drawing/2014/main" id="{4F21B2C8-8945-4F14-8C55-1DDC6F780DA2}"/>
              </a:ext>
            </a:extLst>
          </p:cNvPr>
          <p:cNvSpPr>
            <a:spLocks noGrp="1"/>
          </p:cNvSpPr>
          <p:nvPr>
            <p:ph type="ftr" sz="quarter" idx="2"/>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29B7098-C30E-48A4-8A3B-4248D99D6CC9}"/>
              </a:ext>
            </a:extLst>
          </p:cNvPr>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CF2422D1-1D85-4FA1-8A00-B42C054E0F9D}" type="slidenum">
              <a:rPr lang="en-US" smtClean="0"/>
              <a:t>‹#›</a:t>
            </a:fld>
            <a:endParaRPr lang="en-US"/>
          </a:p>
        </p:txBody>
      </p:sp>
    </p:spTree>
    <p:extLst>
      <p:ext uri="{BB962C8B-B14F-4D97-AF65-F5344CB8AC3E}">
        <p14:creationId xmlns:p14="http://schemas.microsoft.com/office/powerpoint/2010/main" val="143654726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4689228"/>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sp>
      <p:sp>
        <p:nvSpPr>
          <p:cNvPr id="3" name="Text 1"/>
          <p:cNvSpPr/>
          <p:nvPr/>
        </p:nvSpPr>
        <p:spPr>
          <a:xfrm>
            <a:off x="822960" y="2148840"/>
            <a:ext cx="3178517" cy="235458"/>
          </a:xfrm>
          <a:prstGeom prst="rect">
            <a:avLst/>
          </a:prstGeom>
          <a:noFill/>
          <a:ln/>
        </p:spPr>
        <p:txBody>
          <a:bodyPr wrap="square" rtlCol="0" anchor="ctr"/>
          <a:lstStyle/>
          <a:p>
            <a:pPr marL="0" indent="0">
              <a:buNone/>
            </a:pPr>
            <a:r>
              <a:rPr lang="en-US" sz="1400" b="1" kern="0" spc="200" dirty="0">
                <a:solidFill>
                  <a:srgbClr val="F2A93B"/>
                </a:solidFill>
                <a:latin typeface="Calibri" pitchFamily="34" charset="0"/>
                <a:ea typeface="Calibri" pitchFamily="34" charset="-122"/>
                <a:cs typeface="Calibri" pitchFamily="34" charset="-120"/>
              </a:rPr>
              <a:t>BIG DATA PRESENTATION</a:t>
            </a:r>
            <a:endParaRPr lang="en-US" sz="1400" dirty="0"/>
          </a:p>
        </p:txBody>
      </p:sp>
      <p:sp>
        <p:nvSpPr>
          <p:cNvPr id="4" name="Text 2"/>
          <p:cNvSpPr/>
          <p:nvPr/>
        </p:nvSpPr>
        <p:spPr>
          <a:xfrm>
            <a:off x="822960" y="3234905"/>
            <a:ext cx="10337409" cy="751254"/>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UrbanCart Analytics Term Project</a:t>
            </a:r>
            <a:endParaRPr lang="en-US" sz="4000" dirty="0"/>
          </a:p>
        </p:txBody>
      </p:sp>
      <p:sp>
        <p:nvSpPr>
          <p:cNvPr id="5" name="Text 3"/>
          <p:cNvSpPr/>
          <p:nvPr/>
        </p:nvSpPr>
        <p:spPr>
          <a:xfrm>
            <a:off x="829603" y="3992098"/>
            <a:ext cx="6343748" cy="411480"/>
          </a:xfrm>
          <a:prstGeom prst="rect">
            <a:avLst/>
          </a:prstGeom>
          <a:noFill/>
          <a:ln/>
        </p:spPr>
        <p:txBody>
          <a:bodyPr wrap="square" lIns="0" tIns="0" rIns="0" bIns="0"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Customer Value, Product Profitability, and Data Trustworthiness</a:t>
            </a:r>
            <a:endParaRPr lang="en-US" sz="1800" dirty="0"/>
          </a:p>
        </p:txBody>
      </p:sp>
      <p:pic>
        <p:nvPicPr>
          <p:cNvPr id="7" name="Picture 6">
            <a:extLst>
              <a:ext uri="{FF2B5EF4-FFF2-40B4-BE49-F238E27FC236}">
                <a16:creationId xmlns:a16="http://schemas.microsoft.com/office/drawing/2014/main" id="{17447A29-944E-40BA-AC39-A612D8E751C4}"/>
              </a:ext>
            </a:extLst>
          </p:cNvPr>
          <p:cNvPicPr>
            <a:picLocks noChangeAspect="1"/>
          </p:cNvPicPr>
          <p:nvPr/>
        </p:nvPicPr>
        <p:blipFill>
          <a:blip r:embed="rId3"/>
          <a:stretch>
            <a:fillRect/>
          </a:stretch>
        </p:blipFill>
        <p:spPr>
          <a:xfrm>
            <a:off x="654241" y="363064"/>
            <a:ext cx="3964652" cy="1071528"/>
          </a:xfrm>
          <a:prstGeom prst="rect">
            <a:avLst/>
          </a:prstGeom>
        </p:spPr>
      </p:pic>
      <p:sp>
        <p:nvSpPr>
          <p:cNvPr id="8" name="TextBox 7">
            <a:extLst>
              <a:ext uri="{FF2B5EF4-FFF2-40B4-BE49-F238E27FC236}">
                <a16:creationId xmlns:a16="http://schemas.microsoft.com/office/drawing/2014/main" id="{7B6A89F4-71CC-4729-954A-8E5007EF920E}"/>
              </a:ext>
            </a:extLst>
          </p:cNvPr>
          <p:cNvSpPr txBox="1"/>
          <p:nvPr/>
        </p:nvSpPr>
        <p:spPr>
          <a:xfrm>
            <a:off x="822960" y="2384298"/>
            <a:ext cx="4611077" cy="646331"/>
          </a:xfrm>
          <a:prstGeom prst="rect">
            <a:avLst/>
          </a:prstGeom>
          <a:noFill/>
        </p:spPr>
        <p:txBody>
          <a:bodyPr wrap="square" rtlCol="0">
            <a:spAutoFit/>
          </a:bodyPr>
          <a:lstStyle/>
          <a:p>
            <a:r>
              <a:rPr lang="en-US" dirty="0">
                <a:solidFill>
                  <a:schemeClr val="bg1"/>
                </a:solidFill>
              </a:rPr>
              <a:t>Professor: Mr. Min Sothearith</a:t>
            </a:r>
          </a:p>
          <a:p>
            <a:r>
              <a:rPr lang="en-US" dirty="0">
                <a:solidFill>
                  <a:schemeClr val="bg1"/>
                </a:solidFill>
              </a:rPr>
              <a:t>Presenter: Mr. Chang Tong &amp; Ms. Chea Lina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What We'll Cover</a:t>
            </a:r>
            <a:endParaRPr lang="en-US" sz="2600" dirty="0"/>
          </a:p>
        </p:txBody>
      </p:sp>
      <p:sp>
        <p:nvSpPr>
          <p:cNvPr id="3" name="Text 1"/>
          <p:cNvSpPr/>
          <p:nvPr/>
        </p:nvSpPr>
        <p:spPr>
          <a:xfrm>
            <a:off x="548640" y="1463040"/>
            <a:ext cx="822960" cy="822960"/>
          </a:xfrm>
          <a:prstGeom prst="rect">
            <a:avLst/>
          </a:prstGeom>
          <a:noFill/>
          <a:ln/>
        </p:spPr>
        <p:txBody>
          <a:bodyPr wrap="square" lIns="0" tIns="0" rIns="0" bIns="0" rtlCol="0" anchor="ctr"/>
          <a:lstStyle/>
          <a:p>
            <a:pPr marL="0" indent="0">
              <a:buNone/>
            </a:pPr>
            <a:r>
              <a:rPr lang="en-US" sz="2800" b="1" dirty="0">
                <a:solidFill>
                  <a:srgbClr val="F2A93B"/>
                </a:solidFill>
                <a:latin typeface="Cambria" pitchFamily="34" charset="0"/>
                <a:ea typeface="Cambria" pitchFamily="34" charset="-122"/>
                <a:cs typeface="Cambria" pitchFamily="34" charset="-120"/>
              </a:rPr>
              <a:t>01</a:t>
            </a:r>
            <a:endParaRPr lang="en-US" sz="2800" dirty="0"/>
          </a:p>
        </p:txBody>
      </p:sp>
      <p:sp>
        <p:nvSpPr>
          <p:cNvPr id="4" name="Text 2"/>
          <p:cNvSpPr/>
          <p:nvPr/>
        </p:nvSpPr>
        <p:spPr>
          <a:xfrm>
            <a:off x="1371600" y="1444752"/>
            <a:ext cx="4572000" cy="36576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The Three Business Questions</a:t>
            </a:r>
            <a:endParaRPr lang="en-US" sz="1500" dirty="0"/>
          </a:p>
        </p:txBody>
      </p:sp>
      <p:sp>
        <p:nvSpPr>
          <p:cNvPr id="5" name="Text 3"/>
          <p:cNvSpPr/>
          <p:nvPr/>
        </p:nvSpPr>
        <p:spPr>
          <a:xfrm>
            <a:off x="1371600" y="1810512"/>
            <a:ext cx="4572000" cy="548640"/>
          </a:xfrm>
          <a:prstGeom prst="rect">
            <a:avLst/>
          </a:prstGeom>
          <a:noFill/>
          <a:ln/>
        </p:spPr>
        <p:txBody>
          <a:bodyPr wrap="square" lIns="0" tIns="0" rIns="0" bIns="0" rtlCol="0" anchor="ctr"/>
          <a:lstStyle/>
          <a:p>
            <a:pPr marL="0" indent="0">
              <a:buNone/>
            </a:pPr>
            <a:r>
              <a:rPr lang="en-US" sz="1200" dirty="0">
                <a:solidFill>
                  <a:srgbClr val="5B6785"/>
                </a:solidFill>
                <a:latin typeface="Calibri" pitchFamily="34" charset="0"/>
                <a:ea typeface="Calibri" pitchFamily="34" charset="-122"/>
                <a:cs typeface="Calibri" pitchFamily="34" charset="-120"/>
              </a:rPr>
              <a:t>Why UrbanCart commissioned this analysis</a:t>
            </a:r>
            <a:endParaRPr lang="en-US" sz="1200" dirty="0"/>
          </a:p>
        </p:txBody>
      </p:sp>
      <p:sp>
        <p:nvSpPr>
          <p:cNvPr id="6" name="Text 4"/>
          <p:cNvSpPr/>
          <p:nvPr/>
        </p:nvSpPr>
        <p:spPr>
          <a:xfrm>
            <a:off x="6400800" y="1463040"/>
            <a:ext cx="822960" cy="822960"/>
          </a:xfrm>
          <a:prstGeom prst="rect">
            <a:avLst/>
          </a:prstGeom>
          <a:noFill/>
          <a:ln/>
        </p:spPr>
        <p:txBody>
          <a:bodyPr wrap="square" lIns="0" tIns="0" rIns="0" bIns="0" rtlCol="0" anchor="ctr"/>
          <a:lstStyle/>
          <a:p>
            <a:pPr marL="0" indent="0">
              <a:buNone/>
            </a:pPr>
            <a:r>
              <a:rPr lang="en-US" sz="2800" b="1" dirty="0">
                <a:solidFill>
                  <a:srgbClr val="F2A93B"/>
                </a:solidFill>
                <a:latin typeface="Cambria" pitchFamily="34" charset="0"/>
                <a:ea typeface="Cambria" pitchFamily="34" charset="-122"/>
                <a:cs typeface="Cambria" pitchFamily="34" charset="-120"/>
              </a:rPr>
              <a:t>02</a:t>
            </a:r>
            <a:endParaRPr lang="en-US" sz="2800" dirty="0"/>
          </a:p>
        </p:txBody>
      </p:sp>
      <p:sp>
        <p:nvSpPr>
          <p:cNvPr id="7" name="Text 5"/>
          <p:cNvSpPr/>
          <p:nvPr/>
        </p:nvSpPr>
        <p:spPr>
          <a:xfrm>
            <a:off x="7223760" y="1444752"/>
            <a:ext cx="4572000" cy="36576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From Raw Data to Trustworthy Data</a:t>
            </a:r>
            <a:endParaRPr lang="en-US" sz="1500" dirty="0"/>
          </a:p>
        </p:txBody>
      </p:sp>
      <p:sp>
        <p:nvSpPr>
          <p:cNvPr id="8" name="Text 6"/>
          <p:cNvSpPr/>
          <p:nvPr/>
        </p:nvSpPr>
        <p:spPr>
          <a:xfrm>
            <a:off x="7223760" y="1810512"/>
            <a:ext cx="4572000" cy="548640"/>
          </a:xfrm>
          <a:prstGeom prst="rect">
            <a:avLst/>
          </a:prstGeom>
          <a:noFill/>
          <a:ln/>
        </p:spPr>
        <p:txBody>
          <a:bodyPr wrap="square" lIns="0" tIns="0" rIns="0" bIns="0" rtlCol="0" anchor="ctr"/>
          <a:lstStyle/>
          <a:p>
            <a:pPr marL="0" indent="0">
              <a:buNone/>
            </a:pPr>
            <a:r>
              <a:rPr lang="en-US" sz="1200" dirty="0">
                <a:solidFill>
                  <a:srgbClr val="5B6785"/>
                </a:solidFill>
                <a:latin typeface="Calibri" pitchFamily="34" charset="0"/>
                <a:ea typeface="Calibri" pitchFamily="34" charset="-122"/>
                <a:cs typeface="Calibri" pitchFamily="34" charset="-120"/>
              </a:rPr>
              <a:t>Three messy sources, one reconciled picture</a:t>
            </a:r>
            <a:endParaRPr lang="en-US" sz="1200" dirty="0"/>
          </a:p>
        </p:txBody>
      </p:sp>
      <p:sp>
        <p:nvSpPr>
          <p:cNvPr id="9" name="Text 7"/>
          <p:cNvSpPr/>
          <p:nvPr/>
        </p:nvSpPr>
        <p:spPr>
          <a:xfrm>
            <a:off x="548640" y="2880360"/>
            <a:ext cx="822960" cy="822960"/>
          </a:xfrm>
          <a:prstGeom prst="rect">
            <a:avLst/>
          </a:prstGeom>
          <a:noFill/>
          <a:ln/>
        </p:spPr>
        <p:txBody>
          <a:bodyPr wrap="square" lIns="0" tIns="0" rIns="0" bIns="0" rtlCol="0" anchor="ctr"/>
          <a:lstStyle/>
          <a:p>
            <a:pPr marL="0" indent="0">
              <a:buNone/>
            </a:pPr>
            <a:r>
              <a:rPr lang="en-US" sz="2800" b="1" dirty="0">
                <a:solidFill>
                  <a:srgbClr val="F2A93B"/>
                </a:solidFill>
                <a:latin typeface="Cambria" pitchFamily="34" charset="0"/>
                <a:ea typeface="Cambria" pitchFamily="34" charset="-122"/>
                <a:cs typeface="Cambria" pitchFamily="34" charset="-120"/>
              </a:rPr>
              <a:t>03</a:t>
            </a:r>
            <a:endParaRPr lang="en-US" sz="2800" dirty="0"/>
          </a:p>
        </p:txBody>
      </p:sp>
      <p:sp>
        <p:nvSpPr>
          <p:cNvPr id="10" name="Text 8"/>
          <p:cNvSpPr/>
          <p:nvPr/>
        </p:nvSpPr>
        <p:spPr>
          <a:xfrm>
            <a:off x="1371600" y="2862072"/>
            <a:ext cx="4572000" cy="36576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SQL Extraction</a:t>
            </a:r>
            <a:endParaRPr lang="en-US" sz="1500" dirty="0"/>
          </a:p>
        </p:txBody>
      </p:sp>
      <p:sp>
        <p:nvSpPr>
          <p:cNvPr id="11" name="Text 9"/>
          <p:cNvSpPr/>
          <p:nvPr/>
        </p:nvSpPr>
        <p:spPr>
          <a:xfrm>
            <a:off x="1371600" y="3227832"/>
            <a:ext cx="4572000" cy="548640"/>
          </a:xfrm>
          <a:prstGeom prst="rect">
            <a:avLst/>
          </a:prstGeom>
          <a:noFill/>
          <a:ln/>
        </p:spPr>
        <p:txBody>
          <a:bodyPr wrap="square" lIns="0" tIns="0" rIns="0" bIns="0" rtlCol="0" anchor="ctr"/>
          <a:lstStyle/>
          <a:p>
            <a:pPr marL="0" indent="0">
              <a:buNone/>
            </a:pPr>
            <a:r>
              <a:rPr lang="en-US" sz="1200" dirty="0">
                <a:solidFill>
                  <a:srgbClr val="5B6785"/>
                </a:solidFill>
                <a:latin typeface="Calibri" pitchFamily="34" charset="0"/>
                <a:ea typeface="Calibri" pitchFamily="34" charset="-122"/>
                <a:cs typeface="Calibri" pitchFamily="34" charset="-120"/>
              </a:rPr>
              <a:t>10 queries — and an honest note on tooling</a:t>
            </a:r>
            <a:endParaRPr lang="en-US" sz="1200" dirty="0"/>
          </a:p>
        </p:txBody>
      </p:sp>
      <p:sp>
        <p:nvSpPr>
          <p:cNvPr id="12" name="Text 10"/>
          <p:cNvSpPr/>
          <p:nvPr/>
        </p:nvSpPr>
        <p:spPr>
          <a:xfrm>
            <a:off x="6400800" y="2880360"/>
            <a:ext cx="822960" cy="822960"/>
          </a:xfrm>
          <a:prstGeom prst="rect">
            <a:avLst/>
          </a:prstGeom>
          <a:noFill/>
          <a:ln/>
        </p:spPr>
        <p:txBody>
          <a:bodyPr wrap="square" lIns="0" tIns="0" rIns="0" bIns="0" rtlCol="0" anchor="ctr"/>
          <a:lstStyle/>
          <a:p>
            <a:pPr marL="0" indent="0">
              <a:buNone/>
            </a:pPr>
            <a:r>
              <a:rPr lang="en-US" sz="2800" b="1" dirty="0">
                <a:solidFill>
                  <a:srgbClr val="F2A93B"/>
                </a:solidFill>
                <a:latin typeface="Cambria" pitchFamily="34" charset="0"/>
                <a:ea typeface="Cambria" pitchFamily="34" charset="-122"/>
                <a:cs typeface="Cambria" pitchFamily="34" charset="-120"/>
              </a:rPr>
              <a:t>04</a:t>
            </a:r>
            <a:endParaRPr lang="en-US" sz="2800" dirty="0"/>
          </a:p>
        </p:txBody>
      </p:sp>
      <p:sp>
        <p:nvSpPr>
          <p:cNvPr id="13" name="Text 11"/>
          <p:cNvSpPr/>
          <p:nvPr/>
        </p:nvSpPr>
        <p:spPr>
          <a:xfrm>
            <a:off x="7223760" y="2862072"/>
            <a:ext cx="4572000" cy="36576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NumPy Analytics</a:t>
            </a:r>
            <a:endParaRPr lang="en-US" sz="1500" dirty="0"/>
          </a:p>
        </p:txBody>
      </p:sp>
      <p:sp>
        <p:nvSpPr>
          <p:cNvPr id="14" name="Text 12"/>
          <p:cNvSpPr/>
          <p:nvPr/>
        </p:nvSpPr>
        <p:spPr>
          <a:xfrm>
            <a:off x="7223760" y="3227832"/>
            <a:ext cx="4572000" cy="548640"/>
          </a:xfrm>
          <a:prstGeom prst="rect">
            <a:avLst/>
          </a:prstGeom>
          <a:noFill/>
          <a:ln/>
        </p:spPr>
        <p:txBody>
          <a:bodyPr wrap="square" lIns="0" tIns="0" rIns="0" bIns="0" rtlCol="0" anchor="ctr"/>
          <a:lstStyle/>
          <a:p>
            <a:pPr marL="0" indent="0">
              <a:buNone/>
            </a:pPr>
            <a:r>
              <a:rPr lang="en-US" sz="1200" dirty="0">
                <a:solidFill>
                  <a:srgbClr val="5B6785"/>
                </a:solidFill>
                <a:latin typeface="Calibri" pitchFamily="34" charset="0"/>
                <a:ea typeface="Calibri" pitchFamily="34" charset="-122"/>
                <a:cs typeface="Calibri" pitchFamily="34" charset="-120"/>
              </a:rPr>
              <a:t>RFM, similarity, regression, Monte Carlo — built by hand</a:t>
            </a:r>
            <a:endParaRPr lang="en-US" sz="1200" dirty="0"/>
          </a:p>
        </p:txBody>
      </p:sp>
      <p:sp>
        <p:nvSpPr>
          <p:cNvPr id="15" name="Text 13"/>
          <p:cNvSpPr/>
          <p:nvPr/>
        </p:nvSpPr>
        <p:spPr>
          <a:xfrm>
            <a:off x="548640" y="4297680"/>
            <a:ext cx="822960" cy="822960"/>
          </a:xfrm>
          <a:prstGeom prst="rect">
            <a:avLst/>
          </a:prstGeom>
          <a:noFill/>
          <a:ln/>
        </p:spPr>
        <p:txBody>
          <a:bodyPr wrap="square" lIns="0" tIns="0" rIns="0" bIns="0" rtlCol="0" anchor="ctr"/>
          <a:lstStyle/>
          <a:p>
            <a:pPr marL="0" indent="0">
              <a:buNone/>
            </a:pPr>
            <a:r>
              <a:rPr lang="en-US" sz="2800" b="1" dirty="0">
                <a:solidFill>
                  <a:srgbClr val="F2A93B"/>
                </a:solidFill>
                <a:latin typeface="Cambria" pitchFamily="34" charset="0"/>
                <a:ea typeface="Cambria" pitchFamily="34" charset="-122"/>
                <a:cs typeface="Cambria" pitchFamily="34" charset="-120"/>
              </a:rPr>
              <a:t>05</a:t>
            </a:r>
            <a:endParaRPr lang="en-US" sz="2800" dirty="0"/>
          </a:p>
        </p:txBody>
      </p:sp>
      <p:sp>
        <p:nvSpPr>
          <p:cNvPr id="16" name="Text 14"/>
          <p:cNvSpPr/>
          <p:nvPr/>
        </p:nvSpPr>
        <p:spPr>
          <a:xfrm>
            <a:off x="1371600" y="4279392"/>
            <a:ext cx="4572000" cy="36576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8 Findings</a:t>
            </a:r>
            <a:endParaRPr lang="en-US" sz="1500" dirty="0"/>
          </a:p>
        </p:txBody>
      </p:sp>
      <p:sp>
        <p:nvSpPr>
          <p:cNvPr id="17" name="Text 15"/>
          <p:cNvSpPr/>
          <p:nvPr/>
        </p:nvSpPr>
        <p:spPr>
          <a:xfrm>
            <a:off x="1371600" y="4645152"/>
            <a:ext cx="4572000" cy="548640"/>
          </a:xfrm>
          <a:prstGeom prst="rect">
            <a:avLst/>
          </a:prstGeom>
          <a:noFill/>
          <a:ln/>
        </p:spPr>
        <p:txBody>
          <a:bodyPr wrap="square" lIns="0" tIns="0" rIns="0" bIns="0" rtlCol="0" anchor="ctr"/>
          <a:lstStyle/>
          <a:p>
            <a:pPr marL="0" indent="0">
              <a:buNone/>
            </a:pPr>
            <a:r>
              <a:rPr lang="en-US" sz="1200" dirty="0">
                <a:solidFill>
                  <a:srgbClr val="5B6785"/>
                </a:solidFill>
                <a:latin typeface="Calibri" pitchFamily="34" charset="0"/>
                <a:ea typeface="Calibri" pitchFamily="34" charset="-122"/>
                <a:cs typeface="Calibri" pitchFamily="34" charset="-120"/>
              </a:rPr>
              <a:t>What the data actually says</a:t>
            </a:r>
            <a:endParaRPr lang="en-US" sz="1200" dirty="0"/>
          </a:p>
        </p:txBody>
      </p:sp>
      <p:sp>
        <p:nvSpPr>
          <p:cNvPr id="18" name="Text 16"/>
          <p:cNvSpPr/>
          <p:nvPr/>
        </p:nvSpPr>
        <p:spPr>
          <a:xfrm>
            <a:off x="6400800" y="4297680"/>
            <a:ext cx="822960" cy="822960"/>
          </a:xfrm>
          <a:prstGeom prst="rect">
            <a:avLst/>
          </a:prstGeom>
          <a:noFill/>
          <a:ln/>
        </p:spPr>
        <p:txBody>
          <a:bodyPr wrap="square" lIns="0" tIns="0" rIns="0" bIns="0" rtlCol="0" anchor="ctr"/>
          <a:lstStyle/>
          <a:p>
            <a:pPr marL="0" indent="0">
              <a:buNone/>
            </a:pPr>
            <a:r>
              <a:rPr lang="en-US" sz="2800" b="1" dirty="0">
                <a:solidFill>
                  <a:srgbClr val="F2A93B"/>
                </a:solidFill>
                <a:latin typeface="Cambria" pitchFamily="34" charset="0"/>
                <a:ea typeface="Cambria" pitchFamily="34" charset="-122"/>
                <a:cs typeface="Cambria" pitchFamily="34" charset="-120"/>
              </a:rPr>
              <a:t>06</a:t>
            </a:r>
            <a:endParaRPr lang="en-US" sz="2800" dirty="0"/>
          </a:p>
        </p:txBody>
      </p:sp>
      <p:sp>
        <p:nvSpPr>
          <p:cNvPr id="19" name="Text 17"/>
          <p:cNvSpPr/>
          <p:nvPr/>
        </p:nvSpPr>
        <p:spPr>
          <a:xfrm>
            <a:off x="7223760" y="4279392"/>
            <a:ext cx="4572000" cy="36576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Recommendations</a:t>
            </a:r>
            <a:endParaRPr lang="en-US" sz="1500" dirty="0"/>
          </a:p>
        </p:txBody>
      </p:sp>
      <p:sp>
        <p:nvSpPr>
          <p:cNvPr id="20" name="Text 18"/>
          <p:cNvSpPr/>
          <p:nvPr/>
        </p:nvSpPr>
        <p:spPr>
          <a:xfrm>
            <a:off x="7223760" y="4645152"/>
            <a:ext cx="4572000" cy="548640"/>
          </a:xfrm>
          <a:prstGeom prst="rect">
            <a:avLst/>
          </a:prstGeom>
          <a:noFill/>
          <a:ln/>
        </p:spPr>
        <p:txBody>
          <a:bodyPr wrap="square" lIns="0" tIns="0" rIns="0" bIns="0" rtlCol="0" anchor="ctr"/>
          <a:lstStyle/>
          <a:p>
            <a:pPr marL="0" indent="0">
              <a:buNone/>
            </a:pPr>
            <a:r>
              <a:rPr lang="en-US" sz="1200" dirty="0">
                <a:solidFill>
                  <a:srgbClr val="5B6785"/>
                </a:solidFill>
                <a:latin typeface="Calibri" pitchFamily="34" charset="0"/>
                <a:ea typeface="Calibri" pitchFamily="34" charset="-122"/>
                <a:cs typeface="Calibri" pitchFamily="34" charset="-120"/>
              </a:rPr>
              <a:t>What UrbanCart should do next</a:t>
            </a:r>
            <a:endParaRPr lang="en-US" sz="1200" dirty="0"/>
          </a:p>
        </p:txBody>
      </p:sp>
      <p:sp>
        <p:nvSpPr>
          <p:cNvPr id="21" name="Text 19"/>
          <p:cNvSpPr/>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5B6785"/>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Three Questions From Leadership</a:t>
            </a:r>
            <a:endParaRPr lang="en-US" sz="2600" dirty="0"/>
          </a:p>
        </p:txBody>
      </p:sp>
      <p:sp>
        <p:nvSpPr>
          <p:cNvPr id="3" name="Shape 1"/>
          <p:cNvSpPr/>
          <p:nvPr/>
        </p:nvSpPr>
        <p:spPr>
          <a:xfrm>
            <a:off x="548640" y="1737360"/>
            <a:ext cx="3520440" cy="4023360"/>
          </a:xfrm>
          <a:prstGeom prst="rect">
            <a:avLst/>
          </a:prstGeom>
          <a:solidFill>
            <a:srgbClr val="1E2761"/>
          </a:solidFill>
          <a:ln/>
        </p:spPr>
      </p:sp>
      <p:sp>
        <p:nvSpPr>
          <p:cNvPr id="4" name="Text 2"/>
          <p:cNvSpPr/>
          <p:nvPr/>
        </p:nvSpPr>
        <p:spPr>
          <a:xfrm>
            <a:off x="822960" y="2057400"/>
            <a:ext cx="2971800" cy="640080"/>
          </a:xfrm>
          <a:prstGeom prst="rect">
            <a:avLst/>
          </a:prstGeom>
          <a:noFill/>
          <a:ln/>
        </p:spPr>
        <p:txBody>
          <a:bodyPr wrap="square" lIns="0" tIns="0" rIns="0" bIns="0" rtlCol="0" anchor="ctr"/>
          <a:lstStyle/>
          <a:p>
            <a:pPr marL="0" indent="0">
              <a:buNone/>
            </a:pPr>
            <a:r>
              <a:rPr lang="en-US" sz="2200" b="1" dirty="0">
                <a:solidFill>
                  <a:srgbClr val="F2A93B"/>
                </a:solidFill>
                <a:latin typeface="Cambria" pitchFamily="34" charset="0"/>
                <a:ea typeface="Cambria" pitchFamily="34" charset="-122"/>
                <a:cs typeface="Cambria" pitchFamily="34" charset="-120"/>
              </a:rPr>
              <a:t>Q1</a:t>
            </a:r>
            <a:endParaRPr lang="en-US" sz="2200" dirty="0"/>
          </a:p>
        </p:txBody>
      </p:sp>
      <p:sp>
        <p:nvSpPr>
          <p:cNvPr id="5" name="Text 3"/>
          <p:cNvSpPr/>
          <p:nvPr/>
        </p:nvSpPr>
        <p:spPr>
          <a:xfrm>
            <a:off x="822960" y="2743200"/>
            <a:ext cx="2971800" cy="1371600"/>
          </a:xfrm>
          <a:prstGeom prst="rect">
            <a:avLst/>
          </a:prstGeom>
          <a:noFill/>
          <a:ln/>
        </p:spPr>
        <p:txBody>
          <a:bodyPr wrap="square" lIns="0" tIns="0" rIns="0" bIns="0" rtlCol="0" anchor="ctr"/>
          <a:lstStyle/>
          <a:p>
            <a:pPr marL="0" indent="0">
              <a:lnSpc>
                <a:spcPct val="115000"/>
              </a:lnSpc>
              <a:buNone/>
            </a:pPr>
            <a:r>
              <a:rPr lang="en-US" sz="1700" b="1" dirty="0">
                <a:solidFill>
                  <a:srgbClr val="FFFFFF"/>
                </a:solidFill>
                <a:latin typeface="Cambria" pitchFamily="34" charset="0"/>
                <a:ea typeface="Cambria" pitchFamily="34" charset="-122"/>
                <a:cs typeface="Cambria" pitchFamily="34" charset="-120"/>
              </a:rPr>
              <a:t>Which customers are worth investing in?</a:t>
            </a:r>
            <a:endParaRPr lang="en-US" sz="1700" dirty="0"/>
          </a:p>
        </p:txBody>
      </p:sp>
      <p:sp>
        <p:nvSpPr>
          <p:cNvPr id="6" name="Text 4"/>
          <p:cNvSpPr/>
          <p:nvPr/>
        </p:nvSpPr>
        <p:spPr>
          <a:xfrm>
            <a:off x="822960" y="4251960"/>
            <a:ext cx="2971800" cy="1280160"/>
          </a:xfrm>
          <a:prstGeom prst="rect">
            <a:avLst/>
          </a:prstGeom>
          <a:noFill/>
          <a:ln/>
        </p:spPr>
        <p:txBody>
          <a:bodyPr wrap="square" lIns="0" tIns="0" rIns="0" bIns="0" rtlCol="0" anchor="ctr"/>
          <a:lstStyle/>
          <a:p>
            <a:pPr marL="0" indent="0">
              <a:lnSpc>
                <a:spcPct val="120000"/>
              </a:lnSpc>
              <a:buNone/>
            </a:pPr>
            <a:r>
              <a:rPr lang="en-US" sz="1250" dirty="0">
                <a:solidFill>
                  <a:srgbClr val="CADCFC"/>
                </a:solidFill>
                <a:latin typeface="Calibri" pitchFamily="34" charset="0"/>
                <a:ea typeface="Calibri" pitchFamily="34" charset="-122"/>
                <a:cs typeface="Calibri" pitchFamily="34" charset="-120"/>
              </a:rPr>
              <a:t>Revenue alone doesn't say who's loyal vs. who bought once and left.</a:t>
            </a:r>
            <a:endParaRPr lang="en-US" sz="1250" dirty="0"/>
          </a:p>
        </p:txBody>
      </p:sp>
      <p:sp>
        <p:nvSpPr>
          <p:cNvPr id="7" name="Shape 5"/>
          <p:cNvSpPr/>
          <p:nvPr/>
        </p:nvSpPr>
        <p:spPr>
          <a:xfrm>
            <a:off x="4389120" y="1737360"/>
            <a:ext cx="3520440" cy="4023360"/>
          </a:xfrm>
          <a:prstGeom prst="rect">
            <a:avLst/>
          </a:prstGeom>
          <a:solidFill>
            <a:srgbClr val="2B3872"/>
          </a:solidFill>
          <a:ln/>
        </p:spPr>
      </p:sp>
      <p:sp>
        <p:nvSpPr>
          <p:cNvPr id="8" name="Text 6"/>
          <p:cNvSpPr/>
          <p:nvPr/>
        </p:nvSpPr>
        <p:spPr>
          <a:xfrm>
            <a:off x="4663440" y="2057400"/>
            <a:ext cx="2971800" cy="640080"/>
          </a:xfrm>
          <a:prstGeom prst="rect">
            <a:avLst/>
          </a:prstGeom>
          <a:noFill/>
          <a:ln/>
        </p:spPr>
        <p:txBody>
          <a:bodyPr wrap="square" lIns="0" tIns="0" rIns="0" bIns="0" rtlCol="0" anchor="ctr"/>
          <a:lstStyle/>
          <a:p>
            <a:pPr marL="0" indent="0">
              <a:buNone/>
            </a:pPr>
            <a:r>
              <a:rPr lang="en-US" sz="2200" b="1" dirty="0">
                <a:solidFill>
                  <a:srgbClr val="F2A93B"/>
                </a:solidFill>
                <a:latin typeface="Cambria" pitchFamily="34" charset="0"/>
                <a:ea typeface="Cambria" pitchFamily="34" charset="-122"/>
                <a:cs typeface="Cambria" pitchFamily="34" charset="-120"/>
              </a:rPr>
              <a:t>Q2</a:t>
            </a:r>
            <a:endParaRPr lang="en-US" sz="2200" dirty="0"/>
          </a:p>
        </p:txBody>
      </p:sp>
      <p:sp>
        <p:nvSpPr>
          <p:cNvPr id="9" name="Text 7"/>
          <p:cNvSpPr/>
          <p:nvPr/>
        </p:nvSpPr>
        <p:spPr>
          <a:xfrm>
            <a:off x="4663440" y="2743200"/>
            <a:ext cx="2971800" cy="1371600"/>
          </a:xfrm>
          <a:prstGeom prst="rect">
            <a:avLst/>
          </a:prstGeom>
          <a:noFill/>
          <a:ln/>
        </p:spPr>
        <p:txBody>
          <a:bodyPr wrap="square" lIns="0" tIns="0" rIns="0" bIns="0" rtlCol="0" anchor="ctr"/>
          <a:lstStyle/>
          <a:p>
            <a:pPr marL="0" indent="0">
              <a:lnSpc>
                <a:spcPct val="115000"/>
              </a:lnSpc>
              <a:buNone/>
            </a:pPr>
            <a:r>
              <a:rPr lang="en-US" sz="1700" b="1" dirty="0">
                <a:solidFill>
                  <a:srgbClr val="FFFFFF"/>
                </a:solidFill>
                <a:latin typeface="Cambria" pitchFamily="34" charset="0"/>
                <a:ea typeface="Cambria" pitchFamily="34" charset="-122"/>
                <a:cs typeface="Cambria" pitchFamily="34" charset="-120"/>
              </a:rPr>
              <a:t>Which products are actually profitable?</a:t>
            </a:r>
            <a:endParaRPr lang="en-US" sz="1700" dirty="0"/>
          </a:p>
        </p:txBody>
      </p:sp>
      <p:sp>
        <p:nvSpPr>
          <p:cNvPr id="10" name="Text 8"/>
          <p:cNvSpPr/>
          <p:nvPr/>
        </p:nvSpPr>
        <p:spPr>
          <a:xfrm>
            <a:off x="4663440" y="4251960"/>
            <a:ext cx="2971800" cy="1280160"/>
          </a:xfrm>
          <a:prstGeom prst="rect">
            <a:avLst/>
          </a:prstGeom>
          <a:noFill/>
          <a:ln/>
        </p:spPr>
        <p:txBody>
          <a:bodyPr wrap="square" lIns="0" tIns="0" rIns="0" bIns="0" rtlCol="0" anchor="ctr"/>
          <a:lstStyle/>
          <a:p>
            <a:pPr marL="0" indent="0">
              <a:lnSpc>
                <a:spcPct val="120000"/>
              </a:lnSpc>
              <a:buNone/>
            </a:pPr>
            <a:r>
              <a:rPr lang="en-US" sz="1250" dirty="0">
                <a:solidFill>
                  <a:srgbClr val="CADCFC"/>
                </a:solidFill>
                <a:latin typeface="Calibri" pitchFamily="34" charset="0"/>
                <a:ea typeface="Calibri" pitchFamily="34" charset="-122"/>
                <a:cs typeface="Calibri" pitchFamily="34" charset="-120"/>
              </a:rPr>
              <a:t>High sales volume isn't the same as high margin after discounts and returns.</a:t>
            </a:r>
            <a:endParaRPr lang="en-US" sz="1250" dirty="0"/>
          </a:p>
        </p:txBody>
      </p:sp>
      <p:sp>
        <p:nvSpPr>
          <p:cNvPr id="11" name="Shape 9"/>
          <p:cNvSpPr/>
          <p:nvPr/>
        </p:nvSpPr>
        <p:spPr>
          <a:xfrm>
            <a:off x="8229600" y="1737360"/>
            <a:ext cx="3520440" cy="4023360"/>
          </a:xfrm>
          <a:prstGeom prst="rect">
            <a:avLst/>
          </a:prstGeom>
          <a:solidFill>
            <a:srgbClr val="384A94"/>
          </a:solidFill>
          <a:ln/>
        </p:spPr>
      </p:sp>
      <p:sp>
        <p:nvSpPr>
          <p:cNvPr id="12" name="Text 10"/>
          <p:cNvSpPr/>
          <p:nvPr/>
        </p:nvSpPr>
        <p:spPr>
          <a:xfrm>
            <a:off x="8503920" y="2057400"/>
            <a:ext cx="2971800" cy="640080"/>
          </a:xfrm>
          <a:prstGeom prst="rect">
            <a:avLst/>
          </a:prstGeom>
          <a:noFill/>
          <a:ln/>
        </p:spPr>
        <p:txBody>
          <a:bodyPr wrap="square" lIns="0" tIns="0" rIns="0" bIns="0" rtlCol="0" anchor="ctr"/>
          <a:lstStyle/>
          <a:p>
            <a:pPr marL="0" indent="0">
              <a:buNone/>
            </a:pPr>
            <a:r>
              <a:rPr lang="en-US" sz="2200" b="1" dirty="0">
                <a:solidFill>
                  <a:srgbClr val="F2A93B"/>
                </a:solidFill>
                <a:latin typeface="Cambria" pitchFamily="34" charset="0"/>
                <a:ea typeface="Cambria" pitchFamily="34" charset="-122"/>
                <a:cs typeface="Cambria" pitchFamily="34" charset="-120"/>
              </a:rPr>
              <a:t>Q3</a:t>
            </a:r>
            <a:endParaRPr lang="en-US" sz="2200" dirty="0"/>
          </a:p>
        </p:txBody>
      </p:sp>
      <p:sp>
        <p:nvSpPr>
          <p:cNvPr id="13" name="Text 11"/>
          <p:cNvSpPr/>
          <p:nvPr/>
        </p:nvSpPr>
        <p:spPr>
          <a:xfrm>
            <a:off x="8503920" y="2743200"/>
            <a:ext cx="2971800" cy="1371600"/>
          </a:xfrm>
          <a:prstGeom prst="rect">
            <a:avLst/>
          </a:prstGeom>
          <a:noFill/>
          <a:ln/>
        </p:spPr>
        <p:txBody>
          <a:bodyPr wrap="square" lIns="0" tIns="0" rIns="0" bIns="0" rtlCol="0" anchor="ctr"/>
          <a:lstStyle/>
          <a:p>
            <a:pPr marL="0" indent="0">
              <a:lnSpc>
                <a:spcPct val="115000"/>
              </a:lnSpc>
              <a:buNone/>
            </a:pPr>
            <a:r>
              <a:rPr lang="en-US" sz="1700" b="1" dirty="0">
                <a:solidFill>
                  <a:srgbClr val="FFFFFF"/>
                </a:solidFill>
                <a:latin typeface="Cambria" pitchFamily="34" charset="0"/>
                <a:ea typeface="Cambria" pitchFamily="34" charset="-122"/>
                <a:cs typeface="Cambria" pitchFamily="34" charset="-120"/>
              </a:rPr>
              <a:t>Can our own data be trusted?</a:t>
            </a:r>
            <a:endParaRPr lang="en-US" sz="1700" dirty="0"/>
          </a:p>
        </p:txBody>
      </p:sp>
      <p:sp>
        <p:nvSpPr>
          <p:cNvPr id="14" name="Text 12"/>
          <p:cNvSpPr/>
          <p:nvPr/>
        </p:nvSpPr>
        <p:spPr>
          <a:xfrm>
            <a:off x="8503920" y="4251960"/>
            <a:ext cx="2971800" cy="1280160"/>
          </a:xfrm>
          <a:prstGeom prst="rect">
            <a:avLst/>
          </a:prstGeom>
          <a:noFill/>
          <a:ln/>
        </p:spPr>
        <p:txBody>
          <a:bodyPr wrap="square" lIns="0" tIns="0" rIns="0" bIns="0" rtlCol="0" anchor="ctr"/>
          <a:lstStyle/>
          <a:p>
            <a:pPr marL="0" indent="0">
              <a:lnSpc>
                <a:spcPct val="120000"/>
              </a:lnSpc>
              <a:buNone/>
            </a:pPr>
            <a:r>
              <a:rPr lang="en-US" sz="1250" dirty="0">
                <a:solidFill>
                  <a:srgbClr val="CADCFC"/>
                </a:solidFill>
                <a:latin typeface="Calibri" pitchFamily="34" charset="0"/>
                <a:ea typeface="Calibri" pitchFamily="34" charset="-122"/>
                <a:cs typeface="Calibri" pitchFamily="34" charset="-120"/>
              </a:rPr>
              <a:t>Three sources were never designed to be combined — legacy CRM, supplier catalog, live database.</a:t>
            </a:r>
            <a:endParaRPr lang="en-US" sz="1250" dirty="0"/>
          </a:p>
        </p:txBody>
      </p:sp>
      <p:sp>
        <p:nvSpPr>
          <p:cNvPr id="15" name="Text 13"/>
          <p:cNvSpPr/>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5B6785"/>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058400" cy="320040"/>
          </a:xfrm>
          <a:prstGeom prst="rect">
            <a:avLst/>
          </a:prstGeom>
          <a:noFill/>
          <a:ln/>
        </p:spPr>
        <p:txBody>
          <a:bodyPr wrap="square" rtlCol="0" anchor="ctr"/>
          <a:lstStyle/>
          <a:p>
            <a:pPr marL="0" indent="0">
              <a:buNone/>
            </a:pPr>
            <a:r>
              <a:rPr lang="en-US" sz="1200" b="1" kern="0" spc="150" dirty="0">
                <a:solidFill>
                  <a:srgbClr val="F2A93B"/>
                </a:solidFill>
                <a:latin typeface="Calibri" pitchFamily="34" charset="0"/>
                <a:ea typeface="Calibri" pitchFamily="34" charset="-122"/>
                <a:cs typeface="Calibri" pitchFamily="34" charset="-120"/>
              </a:rPr>
              <a:t>DATA DESCRIPTION</a:t>
            </a:r>
            <a:endParaRPr lang="en-US" sz="1200" dirty="0"/>
          </a:p>
        </p:txBody>
      </p:sp>
      <p:sp>
        <p:nvSpPr>
          <p:cNvPr id="3" name="Text 1"/>
          <p:cNvSpPr/>
          <p:nvPr/>
        </p:nvSpPr>
        <p:spPr>
          <a:xfrm>
            <a:off x="548640" y="621792"/>
            <a:ext cx="10972800" cy="64008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The Data Behind This Analysis</a:t>
            </a:r>
            <a:endParaRPr lang="en-US" sz="2600" dirty="0"/>
          </a:p>
        </p:txBody>
      </p:sp>
      <p:sp>
        <p:nvSpPr>
          <p:cNvPr id="4" name="Shape 2"/>
          <p:cNvSpPr/>
          <p:nvPr/>
        </p:nvSpPr>
        <p:spPr>
          <a:xfrm>
            <a:off x="548640" y="1463040"/>
            <a:ext cx="3520440" cy="1463040"/>
          </a:xfrm>
          <a:prstGeom prst="rect">
            <a:avLst/>
          </a:prstGeom>
          <a:solidFill>
            <a:srgbClr val="F7F8FC"/>
          </a:solidFill>
          <a:ln/>
        </p:spPr>
      </p:sp>
      <p:sp>
        <p:nvSpPr>
          <p:cNvPr id="5" name="Text 3"/>
          <p:cNvSpPr/>
          <p:nvPr/>
        </p:nvSpPr>
        <p:spPr>
          <a:xfrm>
            <a:off x="777240" y="1627632"/>
            <a:ext cx="3063240" cy="77724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2,500</a:t>
            </a:r>
            <a:endParaRPr lang="en-US" sz="3000" dirty="0"/>
          </a:p>
        </p:txBody>
      </p:sp>
      <p:sp>
        <p:nvSpPr>
          <p:cNvPr id="6" name="Text 4"/>
          <p:cNvSpPr/>
          <p:nvPr/>
        </p:nvSpPr>
        <p:spPr>
          <a:xfrm>
            <a:off x="777240" y="2423160"/>
            <a:ext cx="3063240" cy="365760"/>
          </a:xfrm>
          <a:prstGeom prst="rect">
            <a:avLst/>
          </a:prstGeom>
          <a:noFill/>
          <a:ln/>
        </p:spPr>
        <p:txBody>
          <a:bodyPr wrap="square" lIns="0" tIns="0" rIns="0" bIns="0" rtlCol="0" anchor="ctr"/>
          <a:lstStyle/>
          <a:p>
            <a:pPr marL="0" indent="0">
              <a:buNone/>
            </a:pPr>
            <a:r>
              <a:rPr lang="en-US" sz="1300" b="1" dirty="0">
                <a:solidFill>
                  <a:srgbClr val="5B6785"/>
                </a:solidFill>
                <a:latin typeface="Calibri" pitchFamily="34" charset="0"/>
                <a:ea typeface="Calibri" pitchFamily="34" charset="-122"/>
                <a:cs typeface="Calibri" pitchFamily="34" charset="-120"/>
              </a:rPr>
              <a:t>Customers</a:t>
            </a:r>
            <a:endParaRPr lang="en-US" sz="1300" dirty="0"/>
          </a:p>
        </p:txBody>
      </p:sp>
      <p:sp>
        <p:nvSpPr>
          <p:cNvPr id="7" name="Shape 5"/>
          <p:cNvSpPr/>
          <p:nvPr/>
        </p:nvSpPr>
        <p:spPr>
          <a:xfrm>
            <a:off x="4389120" y="1463040"/>
            <a:ext cx="3520440" cy="1463040"/>
          </a:xfrm>
          <a:prstGeom prst="rect">
            <a:avLst/>
          </a:prstGeom>
          <a:solidFill>
            <a:srgbClr val="F7F8FC"/>
          </a:solidFill>
          <a:ln/>
        </p:spPr>
      </p:sp>
      <p:sp>
        <p:nvSpPr>
          <p:cNvPr id="8" name="Text 6"/>
          <p:cNvSpPr/>
          <p:nvPr/>
        </p:nvSpPr>
        <p:spPr>
          <a:xfrm>
            <a:off x="4617720" y="1627632"/>
            <a:ext cx="3063240" cy="77724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300</a:t>
            </a:r>
            <a:endParaRPr lang="en-US" sz="3000" dirty="0"/>
          </a:p>
        </p:txBody>
      </p:sp>
      <p:sp>
        <p:nvSpPr>
          <p:cNvPr id="9" name="Text 7"/>
          <p:cNvSpPr/>
          <p:nvPr/>
        </p:nvSpPr>
        <p:spPr>
          <a:xfrm>
            <a:off x="4617720" y="2423160"/>
            <a:ext cx="3063240" cy="365760"/>
          </a:xfrm>
          <a:prstGeom prst="rect">
            <a:avLst/>
          </a:prstGeom>
          <a:noFill/>
          <a:ln/>
        </p:spPr>
        <p:txBody>
          <a:bodyPr wrap="square" lIns="0" tIns="0" rIns="0" bIns="0" rtlCol="0" anchor="ctr"/>
          <a:lstStyle/>
          <a:p>
            <a:pPr marL="0" indent="0">
              <a:buNone/>
            </a:pPr>
            <a:r>
              <a:rPr lang="en-US" sz="1300" b="1" dirty="0">
                <a:solidFill>
                  <a:srgbClr val="5B6785"/>
                </a:solidFill>
                <a:latin typeface="Calibri" pitchFamily="34" charset="0"/>
                <a:ea typeface="Calibri" pitchFamily="34" charset="-122"/>
                <a:cs typeface="Calibri" pitchFamily="34" charset="-120"/>
              </a:rPr>
              <a:t>Products</a:t>
            </a:r>
            <a:endParaRPr lang="en-US" sz="1300" dirty="0"/>
          </a:p>
        </p:txBody>
      </p:sp>
      <p:sp>
        <p:nvSpPr>
          <p:cNvPr id="10" name="Shape 8"/>
          <p:cNvSpPr/>
          <p:nvPr/>
        </p:nvSpPr>
        <p:spPr>
          <a:xfrm>
            <a:off x="8229600" y="1463040"/>
            <a:ext cx="3520440" cy="1463040"/>
          </a:xfrm>
          <a:prstGeom prst="rect">
            <a:avLst/>
          </a:prstGeom>
          <a:solidFill>
            <a:srgbClr val="F7F8FC"/>
          </a:solidFill>
          <a:ln/>
        </p:spPr>
      </p:sp>
      <p:sp>
        <p:nvSpPr>
          <p:cNvPr id="11" name="Text 9"/>
          <p:cNvSpPr/>
          <p:nvPr/>
        </p:nvSpPr>
        <p:spPr>
          <a:xfrm>
            <a:off x="8458200" y="1627632"/>
            <a:ext cx="3063240" cy="77724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9,000</a:t>
            </a:r>
            <a:endParaRPr lang="en-US" sz="3000" dirty="0"/>
          </a:p>
        </p:txBody>
      </p:sp>
      <p:sp>
        <p:nvSpPr>
          <p:cNvPr id="12" name="Text 10"/>
          <p:cNvSpPr/>
          <p:nvPr/>
        </p:nvSpPr>
        <p:spPr>
          <a:xfrm>
            <a:off x="8458200" y="2423160"/>
            <a:ext cx="3063240" cy="365760"/>
          </a:xfrm>
          <a:prstGeom prst="rect">
            <a:avLst/>
          </a:prstGeom>
          <a:noFill/>
          <a:ln/>
        </p:spPr>
        <p:txBody>
          <a:bodyPr wrap="square" lIns="0" tIns="0" rIns="0" bIns="0" rtlCol="0" anchor="ctr"/>
          <a:lstStyle/>
          <a:p>
            <a:pPr marL="0" indent="0">
              <a:buNone/>
            </a:pPr>
            <a:r>
              <a:rPr lang="en-US" sz="1300" b="1" dirty="0">
                <a:solidFill>
                  <a:srgbClr val="5B6785"/>
                </a:solidFill>
                <a:latin typeface="Calibri" pitchFamily="34" charset="0"/>
                <a:ea typeface="Calibri" pitchFamily="34" charset="-122"/>
                <a:cs typeface="Calibri" pitchFamily="34" charset="-120"/>
              </a:rPr>
              <a:t>Orders</a:t>
            </a:r>
            <a:endParaRPr lang="en-US" sz="1300" dirty="0"/>
          </a:p>
        </p:txBody>
      </p:sp>
      <p:sp>
        <p:nvSpPr>
          <p:cNvPr id="13" name="Shape 11"/>
          <p:cNvSpPr/>
          <p:nvPr/>
        </p:nvSpPr>
        <p:spPr>
          <a:xfrm>
            <a:off x="548640" y="3200400"/>
            <a:ext cx="3520440" cy="1463040"/>
          </a:xfrm>
          <a:prstGeom prst="rect">
            <a:avLst/>
          </a:prstGeom>
          <a:solidFill>
            <a:srgbClr val="F7F8FC"/>
          </a:solidFill>
          <a:ln/>
        </p:spPr>
      </p:sp>
      <p:sp>
        <p:nvSpPr>
          <p:cNvPr id="14" name="Text 12"/>
          <p:cNvSpPr/>
          <p:nvPr/>
        </p:nvSpPr>
        <p:spPr>
          <a:xfrm>
            <a:off x="777240" y="3364992"/>
            <a:ext cx="3063240" cy="77724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20,362</a:t>
            </a:r>
            <a:endParaRPr lang="en-US" sz="3000" dirty="0"/>
          </a:p>
        </p:txBody>
      </p:sp>
      <p:sp>
        <p:nvSpPr>
          <p:cNvPr id="15" name="Text 13"/>
          <p:cNvSpPr/>
          <p:nvPr/>
        </p:nvSpPr>
        <p:spPr>
          <a:xfrm>
            <a:off x="777240" y="4160520"/>
            <a:ext cx="3063240" cy="365760"/>
          </a:xfrm>
          <a:prstGeom prst="rect">
            <a:avLst/>
          </a:prstGeom>
          <a:noFill/>
          <a:ln/>
        </p:spPr>
        <p:txBody>
          <a:bodyPr wrap="square" lIns="0" tIns="0" rIns="0" bIns="0" rtlCol="0" anchor="ctr"/>
          <a:lstStyle/>
          <a:p>
            <a:pPr marL="0" indent="0">
              <a:buNone/>
            </a:pPr>
            <a:r>
              <a:rPr lang="en-US" sz="1300" b="1" dirty="0">
                <a:solidFill>
                  <a:srgbClr val="5B6785"/>
                </a:solidFill>
                <a:latin typeface="Calibri" pitchFamily="34" charset="0"/>
                <a:ea typeface="Calibri" pitchFamily="34" charset="-122"/>
                <a:cs typeface="Calibri" pitchFamily="34" charset="-120"/>
              </a:rPr>
              <a:t>Order Line Items</a:t>
            </a:r>
            <a:endParaRPr lang="en-US" sz="1300" dirty="0"/>
          </a:p>
        </p:txBody>
      </p:sp>
      <p:sp>
        <p:nvSpPr>
          <p:cNvPr id="16" name="Shape 14"/>
          <p:cNvSpPr/>
          <p:nvPr/>
        </p:nvSpPr>
        <p:spPr>
          <a:xfrm>
            <a:off x="4389120" y="3200400"/>
            <a:ext cx="3520440" cy="1463040"/>
          </a:xfrm>
          <a:prstGeom prst="rect">
            <a:avLst/>
          </a:prstGeom>
          <a:solidFill>
            <a:srgbClr val="F7F8FC"/>
          </a:solidFill>
          <a:ln/>
        </p:spPr>
      </p:sp>
      <p:sp>
        <p:nvSpPr>
          <p:cNvPr id="17" name="Text 15"/>
          <p:cNvSpPr/>
          <p:nvPr/>
        </p:nvSpPr>
        <p:spPr>
          <a:xfrm>
            <a:off x="4617720" y="3364992"/>
            <a:ext cx="3063240" cy="77724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4,000</a:t>
            </a:r>
            <a:endParaRPr lang="en-US" sz="3000" dirty="0"/>
          </a:p>
        </p:txBody>
      </p:sp>
      <p:sp>
        <p:nvSpPr>
          <p:cNvPr id="18" name="Text 16"/>
          <p:cNvSpPr/>
          <p:nvPr/>
        </p:nvSpPr>
        <p:spPr>
          <a:xfrm>
            <a:off x="4617720" y="4160520"/>
            <a:ext cx="3063240" cy="365760"/>
          </a:xfrm>
          <a:prstGeom prst="rect">
            <a:avLst/>
          </a:prstGeom>
          <a:noFill/>
          <a:ln/>
        </p:spPr>
        <p:txBody>
          <a:bodyPr wrap="square" lIns="0" tIns="0" rIns="0" bIns="0" rtlCol="0" anchor="ctr"/>
          <a:lstStyle/>
          <a:p>
            <a:pPr marL="0" indent="0">
              <a:buNone/>
            </a:pPr>
            <a:r>
              <a:rPr lang="en-US" sz="1300" b="1" dirty="0">
                <a:solidFill>
                  <a:srgbClr val="5B6785"/>
                </a:solidFill>
                <a:latin typeface="Calibri" pitchFamily="34" charset="0"/>
                <a:ea typeface="Calibri" pitchFamily="34" charset="-122"/>
                <a:cs typeface="Calibri" pitchFamily="34" charset="-120"/>
              </a:rPr>
              <a:t>Reviews</a:t>
            </a:r>
            <a:endParaRPr lang="en-US" sz="1300" dirty="0"/>
          </a:p>
        </p:txBody>
      </p:sp>
      <p:sp>
        <p:nvSpPr>
          <p:cNvPr id="19" name="Shape 17"/>
          <p:cNvSpPr/>
          <p:nvPr/>
        </p:nvSpPr>
        <p:spPr>
          <a:xfrm>
            <a:off x="8229600" y="3200400"/>
            <a:ext cx="3520440" cy="1463040"/>
          </a:xfrm>
          <a:prstGeom prst="rect">
            <a:avLst/>
          </a:prstGeom>
          <a:solidFill>
            <a:srgbClr val="F7F8FC"/>
          </a:solidFill>
          <a:ln/>
        </p:spPr>
      </p:sp>
      <p:sp>
        <p:nvSpPr>
          <p:cNvPr id="20" name="Text 18"/>
          <p:cNvSpPr/>
          <p:nvPr/>
        </p:nvSpPr>
        <p:spPr>
          <a:xfrm>
            <a:off x="8458200" y="3364992"/>
            <a:ext cx="3063240" cy="77724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12,000</a:t>
            </a:r>
            <a:endParaRPr lang="en-US" sz="3000" dirty="0"/>
          </a:p>
        </p:txBody>
      </p:sp>
      <p:sp>
        <p:nvSpPr>
          <p:cNvPr id="21" name="Text 19"/>
          <p:cNvSpPr/>
          <p:nvPr/>
        </p:nvSpPr>
        <p:spPr>
          <a:xfrm>
            <a:off x="8458200" y="4160520"/>
            <a:ext cx="3063240" cy="365760"/>
          </a:xfrm>
          <a:prstGeom prst="rect">
            <a:avLst/>
          </a:prstGeom>
          <a:noFill/>
          <a:ln/>
        </p:spPr>
        <p:txBody>
          <a:bodyPr wrap="square" lIns="0" tIns="0" rIns="0" bIns="0" rtlCol="0" anchor="ctr"/>
          <a:lstStyle/>
          <a:p>
            <a:pPr marL="0" indent="0">
              <a:buNone/>
            </a:pPr>
            <a:r>
              <a:rPr lang="en-US" sz="1300" b="1" dirty="0">
                <a:solidFill>
                  <a:srgbClr val="5B6785"/>
                </a:solidFill>
                <a:latin typeface="Calibri" pitchFamily="34" charset="0"/>
                <a:ea typeface="Calibri" pitchFamily="34" charset="-122"/>
                <a:cs typeface="Calibri" pitchFamily="34" charset="-120"/>
              </a:rPr>
              <a:t>Web Sessions</a:t>
            </a:r>
            <a:endParaRPr lang="en-US" sz="1300" dirty="0"/>
          </a:p>
        </p:txBody>
      </p:sp>
      <p:sp>
        <p:nvSpPr>
          <p:cNvPr id="22" name="Text 20"/>
          <p:cNvSpPr/>
          <p:nvPr/>
        </p:nvSpPr>
        <p:spPr>
          <a:xfrm>
            <a:off x="548640" y="5074920"/>
            <a:ext cx="11064240" cy="1188720"/>
          </a:xfrm>
          <a:prstGeom prst="rect">
            <a:avLst/>
          </a:prstGeom>
          <a:noFill/>
          <a:ln/>
        </p:spPr>
        <p:txBody>
          <a:bodyPr wrap="square" rtlCol="0" anchor="ctr"/>
          <a:lstStyle/>
          <a:p>
            <a:pPr marL="0" indent="0">
              <a:lnSpc>
                <a:spcPct val="125000"/>
              </a:lnSpc>
              <a:buNone/>
            </a:pPr>
            <a:r>
              <a:rPr lang="en-US" sz="1350" i="1" dirty="0">
                <a:solidFill>
                  <a:srgbClr val="1F2333"/>
                </a:solidFill>
                <a:latin typeface="Calibri" pitchFamily="34" charset="0"/>
                <a:ea typeface="Calibri" pitchFamily="34" charset="-122"/>
                <a:cs typeface="Calibri" pitchFamily="34" charset="-120"/>
              </a:rPr>
              <a:t>Three sources: a live SQLite database, a legacy CRM export (1,427 rows, 4 date formats, ~48 duplicate emails), and a supplier product catalog (266 SKUs, 255 overlapping with the database). Jan 2022 – Dec 2024, 9 countries.</a:t>
            </a:r>
            <a:endParaRPr lang="en-US" sz="1350" dirty="0"/>
          </a:p>
        </p:txBody>
      </p:sp>
      <p:sp>
        <p:nvSpPr>
          <p:cNvPr id="23" name="Text 21"/>
          <p:cNvSpPr/>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5B6785"/>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058400" cy="320040"/>
          </a:xfrm>
          <a:prstGeom prst="rect">
            <a:avLst/>
          </a:prstGeom>
          <a:noFill/>
          <a:ln/>
        </p:spPr>
        <p:txBody>
          <a:bodyPr wrap="square" rtlCol="0" anchor="ctr"/>
          <a:lstStyle/>
          <a:p>
            <a:pPr marL="0" indent="0">
              <a:buNone/>
            </a:pPr>
            <a:r>
              <a:rPr lang="en-US" sz="1200" b="1" kern="0" spc="150" dirty="0">
                <a:solidFill>
                  <a:srgbClr val="F2A93B"/>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48640" y="621792"/>
            <a:ext cx="10972800" cy="64008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SQL Extraction — 10 Business Queries</a:t>
            </a:r>
            <a:endParaRPr lang="en-US" sz="2600" dirty="0"/>
          </a:p>
        </p:txBody>
      </p:sp>
      <p:sp>
        <p:nvSpPr>
          <p:cNvPr id="4" name="Text 2"/>
          <p:cNvSpPr/>
          <p:nvPr/>
        </p:nvSpPr>
        <p:spPr>
          <a:xfrm>
            <a:off x="548640" y="1417320"/>
            <a:ext cx="6949440" cy="1280160"/>
          </a:xfrm>
          <a:prstGeom prst="rect">
            <a:avLst/>
          </a:prstGeom>
          <a:noFill/>
          <a:ln/>
        </p:spPr>
        <p:txBody>
          <a:bodyPr wrap="square" rtlCol="0" anchor="ctr"/>
          <a:lstStyle/>
          <a:p>
            <a:pPr marL="0" indent="0">
              <a:lnSpc>
                <a:spcPct val="125000"/>
              </a:lnSpc>
              <a:buNone/>
            </a:pPr>
            <a:r>
              <a:rPr lang="en-US" sz="1450" dirty="0">
                <a:solidFill>
                  <a:srgbClr val="1F2333"/>
                </a:solidFill>
                <a:latin typeface="Calibri" pitchFamily="34" charset="0"/>
                <a:ea typeface="Calibri" pitchFamily="34" charset="-122"/>
                <a:cs typeface="Calibri" pitchFamily="34" charset="-120"/>
              </a:rPr>
              <a:t>Ten SQL queries were written against ecommerce.db to extract the tables used throughout this analysis — covering revenue by category, top customers, month-over-month trends, return rates, engagement patterns, and more.</a:t>
            </a:r>
            <a:endParaRPr lang="en-US" sz="1450" dirty="0"/>
          </a:p>
        </p:txBody>
      </p:sp>
      <p:sp>
        <p:nvSpPr>
          <p:cNvPr id="5" name="Text 3"/>
          <p:cNvSpPr/>
          <p:nvPr/>
        </p:nvSpPr>
        <p:spPr>
          <a:xfrm>
            <a:off x="548640" y="2834640"/>
            <a:ext cx="3383280" cy="365760"/>
          </a:xfrm>
          <a:prstGeom prst="rect">
            <a:avLst/>
          </a:prstGeom>
          <a:noFill/>
          <a:ln/>
        </p:spPr>
        <p:txBody>
          <a:bodyPr wrap="square" lIns="0" tIns="0" rIns="0" bIns="0" rtlCol="0" anchor="ctr"/>
          <a:lstStyle/>
          <a:p>
            <a:pPr marL="0" indent="0">
              <a:buNone/>
            </a:pPr>
            <a:r>
              <a:rPr lang="en-US" sz="1150" dirty="0">
                <a:solidFill>
                  <a:srgbClr val="1F2333"/>
                </a:solidFill>
                <a:latin typeface="Calibri" pitchFamily="34" charset="0"/>
                <a:ea typeface="Calibri" pitchFamily="34" charset="-122"/>
                <a:cs typeface="Calibri" pitchFamily="34" charset="-120"/>
              </a:rPr>
              <a:t>1.  Revenue, order count &amp; AOV by category</a:t>
            </a:r>
            <a:endParaRPr lang="en-US" sz="1150" dirty="0"/>
          </a:p>
        </p:txBody>
      </p:sp>
      <p:sp>
        <p:nvSpPr>
          <p:cNvPr id="6" name="Text 4"/>
          <p:cNvSpPr/>
          <p:nvPr/>
        </p:nvSpPr>
        <p:spPr>
          <a:xfrm>
            <a:off x="548640" y="3218688"/>
            <a:ext cx="3383280" cy="365760"/>
          </a:xfrm>
          <a:prstGeom prst="rect">
            <a:avLst/>
          </a:prstGeom>
          <a:noFill/>
          <a:ln/>
        </p:spPr>
        <p:txBody>
          <a:bodyPr wrap="square" lIns="0" tIns="0" rIns="0" bIns="0" rtlCol="0" anchor="ctr"/>
          <a:lstStyle/>
          <a:p>
            <a:pPr marL="0" indent="0">
              <a:buNone/>
            </a:pPr>
            <a:r>
              <a:rPr lang="en-US" sz="1150" dirty="0">
                <a:solidFill>
                  <a:srgbClr val="1F2333"/>
                </a:solidFill>
                <a:latin typeface="Calibri" pitchFamily="34" charset="0"/>
                <a:ea typeface="Calibri" pitchFamily="34" charset="-122"/>
                <a:cs typeface="Calibri" pitchFamily="34" charset="-120"/>
              </a:rPr>
              <a:t>2.  Top 20 customers by lifetime spend</a:t>
            </a:r>
            <a:endParaRPr lang="en-US" sz="1150" dirty="0"/>
          </a:p>
        </p:txBody>
      </p:sp>
      <p:sp>
        <p:nvSpPr>
          <p:cNvPr id="7" name="Text 5"/>
          <p:cNvSpPr/>
          <p:nvPr/>
        </p:nvSpPr>
        <p:spPr>
          <a:xfrm>
            <a:off x="548640" y="3602736"/>
            <a:ext cx="3383280" cy="365760"/>
          </a:xfrm>
          <a:prstGeom prst="rect">
            <a:avLst/>
          </a:prstGeom>
          <a:noFill/>
          <a:ln/>
        </p:spPr>
        <p:txBody>
          <a:bodyPr wrap="square" lIns="0" tIns="0" rIns="0" bIns="0" rtlCol="0" anchor="ctr"/>
          <a:lstStyle/>
          <a:p>
            <a:pPr marL="0" indent="0">
              <a:buNone/>
            </a:pPr>
            <a:r>
              <a:rPr lang="en-US" sz="1150" dirty="0">
                <a:solidFill>
                  <a:srgbClr val="1F2333"/>
                </a:solidFill>
                <a:latin typeface="Calibri" pitchFamily="34" charset="0"/>
                <a:ea typeface="Calibri" pitchFamily="34" charset="-122"/>
                <a:cs typeface="Calibri" pitchFamily="34" charset="-120"/>
              </a:rPr>
              <a:t>3.  Month-over-month revenue trend (LAG())</a:t>
            </a:r>
            <a:endParaRPr lang="en-US" sz="1150" dirty="0"/>
          </a:p>
        </p:txBody>
      </p:sp>
      <p:sp>
        <p:nvSpPr>
          <p:cNvPr id="8" name="Text 6"/>
          <p:cNvSpPr/>
          <p:nvPr/>
        </p:nvSpPr>
        <p:spPr>
          <a:xfrm>
            <a:off x="548640" y="3986784"/>
            <a:ext cx="3383280" cy="365760"/>
          </a:xfrm>
          <a:prstGeom prst="rect">
            <a:avLst/>
          </a:prstGeom>
          <a:noFill/>
          <a:ln/>
        </p:spPr>
        <p:txBody>
          <a:bodyPr wrap="square" lIns="0" tIns="0" rIns="0" bIns="0" rtlCol="0" anchor="ctr"/>
          <a:lstStyle/>
          <a:p>
            <a:pPr marL="0" indent="0">
              <a:buNone/>
            </a:pPr>
            <a:r>
              <a:rPr lang="en-US" sz="1150" dirty="0">
                <a:solidFill>
                  <a:srgbClr val="1F2333"/>
                </a:solidFill>
                <a:latin typeface="Calibri" pitchFamily="34" charset="0"/>
                <a:ea typeface="Calibri" pitchFamily="34" charset="-122"/>
                <a:cs typeface="Calibri" pitchFamily="34" charset="-120"/>
              </a:rPr>
              <a:t>4.  Return rate by category</a:t>
            </a:r>
            <a:endParaRPr lang="en-US" sz="1150" dirty="0"/>
          </a:p>
        </p:txBody>
      </p:sp>
      <p:sp>
        <p:nvSpPr>
          <p:cNvPr id="9" name="Text 7"/>
          <p:cNvSpPr/>
          <p:nvPr/>
        </p:nvSpPr>
        <p:spPr>
          <a:xfrm>
            <a:off x="548640" y="4370832"/>
            <a:ext cx="3383280" cy="365760"/>
          </a:xfrm>
          <a:prstGeom prst="rect">
            <a:avLst/>
          </a:prstGeom>
          <a:noFill/>
          <a:ln/>
        </p:spPr>
        <p:txBody>
          <a:bodyPr wrap="square" lIns="0" tIns="0" rIns="0" bIns="0" rtlCol="0" anchor="ctr"/>
          <a:lstStyle/>
          <a:p>
            <a:pPr marL="0" indent="0">
              <a:buNone/>
            </a:pPr>
            <a:r>
              <a:rPr lang="en-US" sz="1150" dirty="0">
                <a:solidFill>
                  <a:srgbClr val="1F2333"/>
                </a:solidFill>
                <a:latin typeface="Calibri" pitchFamily="34" charset="0"/>
                <a:ea typeface="Calibri" pitchFamily="34" charset="-122"/>
                <a:cs typeface="Calibri" pitchFamily="34" charset="-120"/>
              </a:rPr>
              <a:t>5.  Customers active in all of the last 3 quarters</a:t>
            </a:r>
            <a:endParaRPr lang="en-US" sz="1150" dirty="0"/>
          </a:p>
        </p:txBody>
      </p:sp>
      <p:sp>
        <p:nvSpPr>
          <p:cNvPr id="10" name="Text 8"/>
          <p:cNvSpPr/>
          <p:nvPr/>
        </p:nvSpPr>
        <p:spPr>
          <a:xfrm>
            <a:off x="4069080" y="2834640"/>
            <a:ext cx="3383280" cy="365760"/>
          </a:xfrm>
          <a:prstGeom prst="rect">
            <a:avLst/>
          </a:prstGeom>
          <a:noFill/>
          <a:ln/>
        </p:spPr>
        <p:txBody>
          <a:bodyPr wrap="square" lIns="0" tIns="0" rIns="0" bIns="0" rtlCol="0" anchor="ctr"/>
          <a:lstStyle/>
          <a:p>
            <a:pPr marL="0" indent="0">
              <a:buNone/>
            </a:pPr>
            <a:r>
              <a:rPr lang="en-US" sz="1150" dirty="0">
                <a:solidFill>
                  <a:srgbClr val="1F2333"/>
                </a:solidFill>
                <a:latin typeface="Calibri" pitchFamily="34" charset="0"/>
                <a:ea typeface="Calibri" pitchFamily="34" charset="-122"/>
                <a:cs typeface="Calibri" pitchFamily="34" charset="-120"/>
              </a:rPr>
              <a:t>6.  Top-rated products (≥15 reviews)</a:t>
            </a:r>
            <a:endParaRPr lang="en-US" sz="1150" dirty="0"/>
          </a:p>
        </p:txBody>
      </p:sp>
      <p:sp>
        <p:nvSpPr>
          <p:cNvPr id="11" name="Text 9"/>
          <p:cNvSpPr/>
          <p:nvPr/>
        </p:nvSpPr>
        <p:spPr>
          <a:xfrm>
            <a:off x="4069080" y="3218688"/>
            <a:ext cx="3383280" cy="365760"/>
          </a:xfrm>
          <a:prstGeom prst="rect">
            <a:avLst/>
          </a:prstGeom>
          <a:noFill/>
          <a:ln/>
        </p:spPr>
        <p:txBody>
          <a:bodyPr wrap="square" lIns="0" tIns="0" rIns="0" bIns="0" rtlCol="0" anchor="ctr"/>
          <a:lstStyle/>
          <a:p>
            <a:pPr marL="0" indent="0">
              <a:buNone/>
            </a:pPr>
            <a:r>
              <a:rPr lang="en-US" sz="1150" dirty="0">
                <a:solidFill>
                  <a:srgbClr val="1F2333"/>
                </a:solidFill>
                <a:latin typeface="Calibri" pitchFamily="34" charset="0"/>
                <a:ea typeface="Calibri" pitchFamily="34" charset="-122"/>
                <a:cs typeface="Calibri" pitchFamily="34" charset="-120"/>
              </a:rPr>
              <a:t>7.  Session engagement by device</a:t>
            </a:r>
            <a:endParaRPr lang="en-US" sz="1150" dirty="0"/>
          </a:p>
        </p:txBody>
      </p:sp>
      <p:sp>
        <p:nvSpPr>
          <p:cNvPr id="12" name="Text 10"/>
          <p:cNvSpPr/>
          <p:nvPr/>
        </p:nvSpPr>
        <p:spPr>
          <a:xfrm>
            <a:off x="4069080" y="3602736"/>
            <a:ext cx="3383280" cy="365760"/>
          </a:xfrm>
          <a:prstGeom prst="rect">
            <a:avLst/>
          </a:prstGeom>
          <a:noFill/>
          <a:ln/>
        </p:spPr>
        <p:txBody>
          <a:bodyPr wrap="square" lIns="0" tIns="0" rIns="0" bIns="0" rtlCol="0" anchor="ctr"/>
          <a:lstStyle/>
          <a:p>
            <a:pPr marL="0" indent="0">
              <a:buNone/>
            </a:pPr>
            <a:r>
              <a:rPr lang="en-US" sz="1150" dirty="0">
                <a:solidFill>
                  <a:srgbClr val="1F2333"/>
                </a:solidFill>
                <a:latin typeface="Calibri" pitchFamily="34" charset="0"/>
                <a:ea typeface="Calibri" pitchFamily="34" charset="-122"/>
                <a:cs typeface="Calibri" pitchFamily="34" charset="-120"/>
              </a:rPr>
              <a:t>8.  Product revenue RANK() within category</a:t>
            </a:r>
            <a:endParaRPr lang="en-US" sz="1150" dirty="0"/>
          </a:p>
        </p:txBody>
      </p:sp>
      <p:sp>
        <p:nvSpPr>
          <p:cNvPr id="13" name="Text 11"/>
          <p:cNvSpPr/>
          <p:nvPr/>
        </p:nvSpPr>
        <p:spPr>
          <a:xfrm>
            <a:off x="4069080" y="3986784"/>
            <a:ext cx="3383280" cy="365760"/>
          </a:xfrm>
          <a:prstGeom prst="rect">
            <a:avLst/>
          </a:prstGeom>
          <a:noFill/>
          <a:ln/>
        </p:spPr>
        <p:txBody>
          <a:bodyPr wrap="square" lIns="0" tIns="0" rIns="0" bIns="0" rtlCol="0" anchor="ctr"/>
          <a:lstStyle/>
          <a:p>
            <a:pPr marL="0" indent="0">
              <a:buNone/>
            </a:pPr>
            <a:r>
              <a:rPr lang="en-US" sz="1150" dirty="0">
                <a:solidFill>
                  <a:srgbClr val="1F2333"/>
                </a:solidFill>
                <a:latin typeface="Calibri" pitchFamily="34" charset="0"/>
                <a:ea typeface="Calibri" pitchFamily="34" charset="-122"/>
                <a:cs typeface="Calibri" pitchFamily="34" charset="-120"/>
              </a:rPr>
              <a:t>9.  Payment-method mix by country</a:t>
            </a:r>
            <a:endParaRPr lang="en-US" sz="1150" dirty="0"/>
          </a:p>
        </p:txBody>
      </p:sp>
      <p:sp>
        <p:nvSpPr>
          <p:cNvPr id="14" name="Text 12"/>
          <p:cNvSpPr/>
          <p:nvPr/>
        </p:nvSpPr>
        <p:spPr>
          <a:xfrm>
            <a:off x="4069080" y="4370832"/>
            <a:ext cx="3383280" cy="365760"/>
          </a:xfrm>
          <a:prstGeom prst="rect">
            <a:avLst/>
          </a:prstGeom>
          <a:noFill/>
          <a:ln/>
        </p:spPr>
        <p:txBody>
          <a:bodyPr wrap="square" lIns="0" tIns="0" rIns="0" bIns="0" rtlCol="0" anchor="ctr"/>
          <a:lstStyle/>
          <a:p>
            <a:pPr marL="0" indent="0">
              <a:buNone/>
            </a:pPr>
            <a:r>
              <a:rPr lang="en-US" sz="1150" dirty="0">
                <a:solidFill>
                  <a:srgbClr val="1F2333"/>
                </a:solidFill>
                <a:latin typeface="Calibri" pitchFamily="34" charset="0"/>
                <a:ea typeface="Calibri" pitchFamily="34" charset="-122"/>
                <a:cs typeface="Calibri" pitchFamily="34" charset="-120"/>
              </a:rPr>
              <a:t>10.  Own question: highest-margin category by country</a:t>
            </a:r>
            <a:endParaRPr lang="en-US" sz="1150" dirty="0"/>
          </a:p>
        </p:txBody>
      </p:sp>
      <p:sp>
        <p:nvSpPr>
          <p:cNvPr id="15" name="Shape 13"/>
          <p:cNvSpPr/>
          <p:nvPr/>
        </p:nvSpPr>
        <p:spPr>
          <a:xfrm>
            <a:off x="8092440" y="1417320"/>
            <a:ext cx="3657600" cy="4937760"/>
          </a:xfrm>
          <a:prstGeom prst="rect">
            <a:avLst/>
          </a:prstGeom>
          <a:solidFill>
            <a:srgbClr val="1E2761"/>
          </a:solidFill>
          <a:ln/>
        </p:spPr>
      </p:sp>
      <p:sp>
        <p:nvSpPr>
          <p:cNvPr id="16" name="Text 14"/>
          <p:cNvSpPr/>
          <p:nvPr/>
        </p:nvSpPr>
        <p:spPr>
          <a:xfrm>
            <a:off x="8366760" y="1645920"/>
            <a:ext cx="3108960" cy="320040"/>
          </a:xfrm>
          <a:prstGeom prst="rect">
            <a:avLst/>
          </a:prstGeom>
          <a:noFill/>
          <a:ln/>
        </p:spPr>
        <p:txBody>
          <a:bodyPr wrap="square" rtlCol="0" anchor="ctr"/>
          <a:lstStyle/>
          <a:p>
            <a:pPr marL="0" indent="0">
              <a:buNone/>
            </a:pPr>
            <a:r>
              <a:rPr lang="en-US" sz="1100" b="1" kern="0" spc="100" dirty="0">
                <a:solidFill>
                  <a:srgbClr val="F2A93B"/>
                </a:solidFill>
                <a:latin typeface="Calibri" pitchFamily="34" charset="0"/>
                <a:ea typeface="Calibri" pitchFamily="34" charset="-122"/>
                <a:cs typeface="Calibri" pitchFamily="34" charset="-120"/>
              </a:rPr>
              <a:t>A NOTE ON TOOLING</a:t>
            </a:r>
            <a:endParaRPr lang="en-US" sz="1100" dirty="0"/>
          </a:p>
        </p:txBody>
      </p:sp>
      <p:sp>
        <p:nvSpPr>
          <p:cNvPr id="17" name="Text 15"/>
          <p:cNvSpPr/>
          <p:nvPr/>
        </p:nvSpPr>
        <p:spPr>
          <a:xfrm>
            <a:off x="8366760" y="2011680"/>
            <a:ext cx="3108960" cy="1005840"/>
          </a:xfrm>
          <a:prstGeom prst="rect">
            <a:avLst/>
          </a:prstGeom>
          <a:noFill/>
          <a:ln/>
        </p:spPr>
        <p:txBody>
          <a:bodyPr wrap="square" rtlCol="0" anchor="ctr"/>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My local SQLite setup wasn't running queries correctly through the usual client, so I ran the queries directly from the terminal instead.</a:t>
            </a:r>
            <a:endParaRPr lang="en-US" sz="1250" dirty="0"/>
          </a:p>
        </p:txBody>
      </p:sp>
      <p:sp>
        <p:nvSpPr>
          <p:cNvPr id="18" name="Text 16"/>
          <p:cNvSpPr/>
          <p:nvPr/>
        </p:nvSpPr>
        <p:spPr>
          <a:xfrm>
            <a:off x="8366760" y="3154680"/>
            <a:ext cx="3108960" cy="1371600"/>
          </a:xfrm>
          <a:prstGeom prst="rect">
            <a:avLst/>
          </a:prstGeom>
          <a:noFill/>
          <a:ln/>
        </p:spPr>
        <p:txBody>
          <a:bodyPr wrap="square" rtlCol="0" anchor="ctr"/>
          <a:lstStyle/>
          <a:p>
            <a:pPr marL="0" indent="0">
              <a:lnSpc>
                <a:spcPct val="125000"/>
              </a:lnSpc>
              <a:buNone/>
            </a:pPr>
            <a:r>
              <a:rPr lang="en-US" sz="1250" dirty="0">
                <a:solidFill>
                  <a:srgbClr val="CADCFC"/>
                </a:solidFill>
                <a:latin typeface="Calibri" pitchFamily="34" charset="0"/>
                <a:ea typeface="Calibri" pitchFamily="34" charset="-122"/>
                <a:cs typeface="Calibri" pitchFamily="34" charset="-120"/>
              </a:rPr>
              <a:t>Terminal output isn't formatted as a readable table by default, so I used an AI agent to help parse and rebuild the raw output into clean, readable tables for further analysis and for this presentation.</a:t>
            </a:r>
            <a:endParaRPr lang="en-US" sz="1250" dirty="0"/>
          </a:p>
        </p:txBody>
      </p:sp>
      <p:sp>
        <p:nvSpPr>
          <p:cNvPr id="19" name="Text 17"/>
          <p:cNvSpPr/>
          <p:nvPr/>
        </p:nvSpPr>
        <p:spPr>
          <a:xfrm>
            <a:off x="8366760" y="4709160"/>
            <a:ext cx="3108960" cy="1188720"/>
          </a:xfrm>
          <a:prstGeom prst="rect">
            <a:avLst/>
          </a:prstGeom>
          <a:noFill/>
          <a:ln/>
        </p:spPr>
        <p:txBody>
          <a:bodyPr wrap="square" rtlCol="0" anchor="ctr"/>
          <a:lstStyle/>
          <a:p>
            <a:pPr marL="0" indent="0">
              <a:lnSpc>
                <a:spcPct val="125000"/>
              </a:lnSpc>
              <a:buNone/>
            </a:pPr>
            <a:r>
              <a:rPr lang="en-US" sz="1150" i="1" dirty="0">
                <a:solidFill>
                  <a:srgbClr val="CADCFC"/>
                </a:solidFill>
                <a:latin typeface="Calibri" pitchFamily="34" charset="0"/>
                <a:ea typeface="Calibri" pitchFamily="34" charset="-122"/>
                <a:cs typeface="Calibri" pitchFamily="34" charset="-120"/>
              </a:rPr>
              <a:t>The queries and underlying results are unaffected — this was a formatting and workflow step, not a change to the analysis itself.</a:t>
            </a:r>
            <a:endParaRPr lang="en-US" sz="1150" dirty="0"/>
          </a:p>
        </p:txBody>
      </p:sp>
      <p:sp>
        <p:nvSpPr>
          <p:cNvPr id="20" name="Text 18"/>
          <p:cNvSpPr/>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5B6785"/>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058400" cy="320040"/>
          </a:xfrm>
          <a:prstGeom prst="rect">
            <a:avLst/>
          </a:prstGeom>
          <a:noFill/>
          <a:ln/>
        </p:spPr>
        <p:txBody>
          <a:bodyPr wrap="square" rtlCol="0" anchor="ctr"/>
          <a:lstStyle/>
          <a:p>
            <a:pPr marL="0" indent="0">
              <a:buNone/>
            </a:pPr>
            <a:r>
              <a:rPr lang="en-US" sz="1200" b="1" kern="0" spc="150" dirty="0">
                <a:solidFill>
                  <a:srgbClr val="F2A93B"/>
                </a:solidFill>
                <a:latin typeface="Calibri" pitchFamily="34" charset="0"/>
                <a:ea typeface="Calibri" pitchFamily="34" charset="-122"/>
                <a:cs typeface="Calibri" pitchFamily="34" charset="-120"/>
              </a:rPr>
              <a:t>CLEANING &amp; INTEGRATION</a:t>
            </a:r>
            <a:endParaRPr lang="en-US" sz="1200" dirty="0"/>
          </a:p>
        </p:txBody>
      </p:sp>
      <p:sp>
        <p:nvSpPr>
          <p:cNvPr id="3" name="Text 1"/>
          <p:cNvSpPr/>
          <p:nvPr/>
        </p:nvSpPr>
        <p:spPr>
          <a:xfrm>
            <a:off x="548640" y="621792"/>
            <a:ext cx="10972800" cy="64008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Getting the Data Ready to Trust</a:t>
            </a:r>
            <a:endParaRPr lang="en-US" sz="2600" dirty="0"/>
          </a:p>
        </p:txBody>
      </p:sp>
      <p:sp>
        <p:nvSpPr>
          <p:cNvPr id="4" name="Shape 2"/>
          <p:cNvSpPr/>
          <p:nvPr/>
        </p:nvSpPr>
        <p:spPr>
          <a:xfrm>
            <a:off x="548640" y="1554480"/>
            <a:ext cx="3017520" cy="713232"/>
          </a:xfrm>
          <a:prstGeom prst="rect">
            <a:avLst/>
          </a:prstGeom>
          <a:solidFill>
            <a:srgbClr val="1E2761"/>
          </a:solidFill>
          <a:ln/>
        </p:spPr>
      </p:sp>
      <p:sp>
        <p:nvSpPr>
          <p:cNvPr id="5" name="Text 3"/>
          <p:cNvSpPr/>
          <p:nvPr/>
        </p:nvSpPr>
        <p:spPr>
          <a:xfrm>
            <a:off x="548640" y="1554480"/>
            <a:ext cx="3017520" cy="71323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 date formats → 1</a:t>
            </a:r>
            <a:endParaRPr lang="en-US" sz="1400" dirty="0"/>
          </a:p>
        </p:txBody>
      </p:sp>
      <p:sp>
        <p:nvSpPr>
          <p:cNvPr id="6" name="Text 4"/>
          <p:cNvSpPr/>
          <p:nvPr/>
        </p:nvSpPr>
        <p:spPr>
          <a:xfrm>
            <a:off x="3794760" y="1600200"/>
            <a:ext cx="7863840" cy="640080"/>
          </a:xfrm>
          <a:prstGeom prst="rect">
            <a:avLst/>
          </a:prstGeom>
          <a:noFill/>
          <a:ln/>
        </p:spPr>
        <p:txBody>
          <a:bodyPr wrap="square" lIns="0" tIns="0" rIns="0" bIns="0" rtlCol="0" anchor="ctr"/>
          <a:lstStyle/>
          <a:p>
            <a:pPr marL="0" indent="0">
              <a:buNone/>
            </a:pPr>
            <a:r>
              <a:rPr lang="en-US" sz="1300" dirty="0">
                <a:solidFill>
                  <a:srgbClr val="1F2333"/>
                </a:solidFill>
                <a:latin typeface="Calibri" pitchFamily="34" charset="0"/>
                <a:ea typeface="Calibri" pitchFamily="34" charset="-122"/>
                <a:cs typeface="Calibri" pitchFamily="34" charset="-120"/>
              </a:rPr>
              <a:t>Legacy signup dates standardized into a single datetime column</a:t>
            </a:r>
            <a:endParaRPr lang="en-US" sz="1300" dirty="0"/>
          </a:p>
        </p:txBody>
      </p:sp>
      <p:sp>
        <p:nvSpPr>
          <p:cNvPr id="7" name="Shape 5"/>
          <p:cNvSpPr/>
          <p:nvPr/>
        </p:nvSpPr>
        <p:spPr>
          <a:xfrm>
            <a:off x="548640" y="2450592"/>
            <a:ext cx="3017520" cy="713232"/>
          </a:xfrm>
          <a:prstGeom prst="rect">
            <a:avLst/>
          </a:prstGeom>
          <a:solidFill>
            <a:srgbClr val="1E2761"/>
          </a:solidFill>
          <a:ln/>
        </p:spPr>
      </p:sp>
      <p:sp>
        <p:nvSpPr>
          <p:cNvPr id="8" name="Text 6"/>
          <p:cNvSpPr/>
          <p:nvPr/>
        </p:nvSpPr>
        <p:spPr>
          <a:xfrm>
            <a:off x="548640" y="2450592"/>
            <a:ext cx="3017520" cy="71323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1,427 → 1,377 rows</a:t>
            </a:r>
            <a:endParaRPr lang="en-US" sz="1400" dirty="0"/>
          </a:p>
        </p:txBody>
      </p:sp>
      <p:sp>
        <p:nvSpPr>
          <p:cNvPr id="9" name="Text 7"/>
          <p:cNvSpPr/>
          <p:nvPr/>
        </p:nvSpPr>
        <p:spPr>
          <a:xfrm>
            <a:off x="3794760" y="2496312"/>
            <a:ext cx="7863840" cy="640080"/>
          </a:xfrm>
          <a:prstGeom prst="rect">
            <a:avLst/>
          </a:prstGeom>
          <a:noFill/>
          <a:ln/>
        </p:spPr>
        <p:txBody>
          <a:bodyPr wrap="square" lIns="0" tIns="0" rIns="0" bIns="0" rtlCol="0" anchor="ctr"/>
          <a:lstStyle/>
          <a:p>
            <a:pPr marL="0" indent="0">
              <a:buNone/>
            </a:pPr>
            <a:r>
              <a:rPr lang="en-US" sz="1300" dirty="0">
                <a:solidFill>
                  <a:srgbClr val="1F2333"/>
                </a:solidFill>
                <a:latin typeface="Calibri" pitchFamily="34" charset="0"/>
                <a:ea typeface="Calibri" pitchFamily="34" charset="-122"/>
                <a:cs typeface="Calibri" pitchFamily="34" charset="-120"/>
              </a:rPr>
              <a:t>Junk, blank, and duplicate customer records removed (48 duplicate emails resolved)</a:t>
            </a:r>
            <a:endParaRPr lang="en-US" sz="1300" dirty="0"/>
          </a:p>
        </p:txBody>
      </p:sp>
      <p:sp>
        <p:nvSpPr>
          <p:cNvPr id="10" name="Shape 8"/>
          <p:cNvSpPr/>
          <p:nvPr/>
        </p:nvSpPr>
        <p:spPr>
          <a:xfrm>
            <a:off x="548640" y="3346704"/>
            <a:ext cx="3017520" cy="713232"/>
          </a:xfrm>
          <a:prstGeom prst="rect">
            <a:avLst/>
          </a:prstGeom>
          <a:solidFill>
            <a:srgbClr val="1E2761"/>
          </a:solidFill>
          <a:ln/>
        </p:spPr>
      </p:sp>
      <p:sp>
        <p:nvSpPr>
          <p:cNvPr id="11" name="Text 9"/>
          <p:cNvSpPr/>
          <p:nvPr/>
        </p:nvSpPr>
        <p:spPr>
          <a:xfrm>
            <a:off x="548640" y="3346704"/>
            <a:ext cx="3017520" cy="71323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 outliers flagged</a:t>
            </a:r>
            <a:endParaRPr lang="en-US" sz="1400" dirty="0"/>
          </a:p>
        </p:txBody>
      </p:sp>
      <p:sp>
        <p:nvSpPr>
          <p:cNvPr id="12" name="Text 10"/>
          <p:cNvSpPr/>
          <p:nvPr/>
        </p:nvSpPr>
        <p:spPr>
          <a:xfrm>
            <a:off x="3794760" y="3392424"/>
            <a:ext cx="7863840" cy="640080"/>
          </a:xfrm>
          <a:prstGeom prst="rect">
            <a:avLst/>
          </a:prstGeom>
          <a:noFill/>
          <a:ln/>
        </p:spPr>
        <p:txBody>
          <a:bodyPr wrap="square" lIns="0" tIns="0" rIns="0" bIns="0" rtlCol="0" anchor="ctr"/>
          <a:lstStyle/>
          <a:p>
            <a:pPr marL="0" indent="0">
              <a:buNone/>
            </a:pPr>
            <a:r>
              <a:rPr lang="en-US" sz="1300" dirty="0">
                <a:solidFill>
                  <a:srgbClr val="1F2333"/>
                </a:solidFill>
                <a:latin typeface="Calibri" pitchFamily="34" charset="0"/>
                <a:ea typeface="Calibri" pitchFamily="34" charset="-122"/>
                <a:cs typeface="Calibri" pitchFamily="34" charset="-120"/>
              </a:rPr>
              <a:t>Product prices reviewed via IQR method — flagged, not dropped</a:t>
            </a:r>
            <a:endParaRPr lang="en-US" sz="1300" dirty="0"/>
          </a:p>
        </p:txBody>
      </p:sp>
      <p:sp>
        <p:nvSpPr>
          <p:cNvPr id="13" name="Shape 11"/>
          <p:cNvSpPr/>
          <p:nvPr/>
        </p:nvSpPr>
        <p:spPr>
          <a:xfrm>
            <a:off x="548640" y="4242816"/>
            <a:ext cx="3017520" cy="713232"/>
          </a:xfrm>
          <a:prstGeom prst="rect">
            <a:avLst/>
          </a:prstGeom>
          <a:solidFill>
            <a:srgbClr val="1E2761"/>
          </a:solidFill>
          <a:ln/>
        </p:spPr>
      </p:sp>
      <p:sp>
        <p:nvSpPr>
          <p:cNvPr id="14" name="Text 12"/>
          <p:cNvSpPr/>
          <p:nvPr/>
        </p:nvSpPr>
        <p:spPr>
          <a:xfrm>
            <a:off x="548640" y="4242816"/>
            <a:ext cx="3017520" cy="71323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255 of 267 SKUs matched</a:t>
            </a:r>
            <a:endParaRPr lang="en-US" sz="1400" dirty="0"/>
          </a:p>
        </p:txBody>
      </p:sp>
      <p:sp>
        <p:nvSpPr>
          <p:cNvPr id="15" name="Text 13"/>
          <p:cNvSpPr/>
          <p:nvPr/>
        </p:nvSpPr>
        <p:spPr>
          <a:xfrm>
            <a:off x="3794760" y="4288536"/>
            <a:ext cx="7863840" cy="640080"/>
          </a:xfrm>
          <a:prstGeom prst="rect">
            <a:avLst/>
          </a:prstGeom>
          <a:noFill/>
          <a:ln/>
        </p:spPr>
        <p:txBody>
          <a:bodyPr wrap="square" lIns="0" tIns="0" rIns="0" bIns="0" rtlCol="0" anchor="ctr"/>
          <a:lstStyle/>
          <a:p>
            <a:pPr marL="0" indent="0">
              <a:buNone/>
            </a:pPr>
            <a:r>
              <a:rPr lang="en-US" sz="1300" dirty="0">
                <a:solidFill>
                  <a:srgbClr val="1F2333"/>
                </a:solidFill>
                <a:latin typeface="Calibri" pitchFamily="34" charset="0"/>
                <a:ea typeface="Calibri" pitchFamily="34" charset="-122"/>
                <a:cs typeface="Calibri" pitchFamily="34" charset="-120"/>
              </a:rPr>
              <a:t>Supplier catalog reconciled with internal product table; 12 SKUs exist only in the catalog</a:t>
            </a:r>
            <a:endParaRPr lang="en-US" sz="1300" dirty="0"/>
          </a:p>
        </p:txBody>
      </p:sp>
      <p:sp>
        <p:nvSpPr>
          <p:cNvPr id="16" name="Shape 14"/>
          <p:cNvSpPr/>
          <p:nvPr/>
        </p:nvSpPr>
        <p:spPr>
          <a:xfrm>
            <a:off x="548640" y="5138928"/>
            <a:ext cx="3017520" cy="713232"/>
          </a:xfrm>
          <a:prstGeom prst="rect">
            <a:avLst/>
          </a:prstGeom>
          <a:solidFill>
            <a:srgbClr val="1E2761"/>
          </a:solidFill>
          <a:ln/>
        </p:spPr>
      </p:sp>
      <p:sp>
        <p:nvSpPr>
          <p:cNvPr id="17" name="Text 15"/>
          <p:cNvSpPr/>
          <p:nvPr/>
        </p:nvSpPr>
        <p:spPr>
          <a:xfrm>
            <a:off x="548640" y="5138928"/>
            <a:ext cx="3017520" cy="71323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186 duplicates removed</a:t>
            </a:r>
            <a:endParaRPr lang="en-US" sz="1400" dirty="0"/>
          </a:p>
        </p:txBody>
      </p:sp>
      <p:sp>
        <p:nvSpPr>
          <p:cNvPr id="18" name="Text 16"/>
          <p:cNvSpPr/>
          <p:nvPr/>
        </p:nvSpPr>
        <p:spPr>
          <a:xfrm>
            <a:off x="3794760" y="5184648"/>
            <a:ext cx="7863840" cy="640080"/>
          </a:xfrm>
          <a:prstGeom prst="rect">
            <a:avLst/>
          </a:prstGeom>
          <a:noFill/>
          <a:ln/>
        </p:spPr>
        <p:txBody>
          <a:bodyPr wrap="square" lIns="0" tIns="0" rIns="0" bIns="0" rtlCol="0" anchor="ctr"/>
          <a:lstStyle/>
          <a:p>
            <a:pPr marL="0" indent="0">
              <a:buNone/>
            </a:pPr>
            <a:r>
              <a:rPr lang="en-US" sz="1300" dirty="0">
                <a:solidFill>
                  <a:srgbClr val="1F2333"/>
                </a:solidFill>
                <a:latin typeface="Calibri" pitchFamily="34" charset="0"/>
                <a:ea typeface="Calibri" pitchFamily="34" charset="-122"/>
                <a:cs typeface="Calibri" pitchFamily="34" charset="-120"/>
              </a:rPr>
              <a:t>Exact-duplicate order line items identified and removed</a:t>
            </a:r>
            <a:endParaRPr lang="en-US" sz="1300" dirty="0"/>
          </a:p>
        </p:txBody>
      </p:sp>
      <p:sp>
        <p:nvSpPr>
          <p:cNvPr id="19" name="Text 17"/>
          <p:cNvSpPr/>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5B6785"/>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058400" cy="320040"/>
          </a:xfrm>
          <a:prstGeom prst="rect">
            <a:avLst/>
          </a:prstGeom>
          <a:noFill/>
          <a:ln/>
        </p:spPr>
        <p:txBody>
          <a:bodyPr wrap="square" rtlCol="0" anchor="ctr"/>
          <a:lstStyle/>
          <a:p>
            <a:pPr marL="0" indent="0">
              <a:buNone/>
            </a:pPr>
            <a:r>
              <a:rPr lang="en-US" sz="1200" b="1" kern="0" spc="150" dirty="0">
                <a:solidFill>
                  <a:srgbClr val="F2A93B"/>
                </a:solidFill>
                <a:latin typeface="Calibri" pitchFamily="34" charset="0"/>
                <a:ea typeface="Calibri" pitchFamily="34" charset="-122"/>
                <a:cs typeface="Calibri" pitchFamily="34" charset="-120"/>
              </a:rPr>
              <a:t>NUMPY ANALYTICAL METHODS</a:t>
            </a:r>
            <a:endParaRPr lang="en-US" sz="1200" dirty="0"/>
          </a:p>
        </p:txBody>
      </p:sp>
      <p:sp>
        <p:nvSpPr>
          <p:cNvPr id="3" name="Text 1"/>
          <p:cNvSpPr/>
          <p:nvPr/>
        </p:nvSpPr>
        <p:spPr>
          <a:xfrm>
            <a:off x="548640" y="621792"/>
            <a:ext cx="10972800" cy="64008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Four Routines, Built From First Principles</a:t>
            </a:r>
            <a:endParaRPr lang="en-US" sz="2600" dirty="0"/>
          </a:p>
        </p:txBody>
      </p:sp>
      <p:sp>
        <p:nvSpPr>
          <p:cNvPr id="4" name="Text 2"/>
          <p:cNvSpPr/>
          <p:nvPr/>
        </p:nvSpPr>
        <p:spPr>
          <a:xfrm>
            <a:off x="548640" y="1371600"/>
            <a:ext cx="11064240" cy="502920"/>
          </a:xfrm>
          <a:prstGeom prst="rect">
            <a:avLst/>
          </a:prstGeom>
          <a:noFill/>
          <a:ln/>
        </p:spPr>
        <p:txBody>
          <a:bodyPr wrap="square" rtlCol="0" anchor="ctr"/>
          <a:lstStyle/>
          <a:p>
            <a:pPr marL="0" indent="0">
              <a:buNone/>
            </a:pPr>
            <a:r>
              <a:rPr lang="en-US" sz="1350" i="1" dirty="0">
                <a:solidFill>
                  <a:srgbClr val="5B6785"/>
                </a:solidFill>
                <a:latin typeface="Calibri" pitchFamily="34" charset="0"/>
                <a:ea typeface="Calibri" pitchFamily="34" charset="-122"/>
                <a:cs typeface="Calibri" pitchFamily="34" charset="-120"/>
              </a:rPr>
              <a:t>No pandas.qcut, no sklearn shortcuts — every routine implemented directly on NumPy arrays, then validated against a library function used only to verify.</a:t>
            </a:r>
            <a:endParaRPr lang="en-US" sz="1350" dirty="0"/>
          </a:p>
        </p:txBody>
      </p:sp>
      <p:sp>
        <p:nvSpPr>
          <p:cNvPr id="5" name="Shape 3"/>
          <p:cNvSpPr/>
          <p:nvPr/>
        </p:nvSpPr>
        <p:spPr>
          <a:xfrm>
            <a:off x="548640" y="2103120"/>
            <a:ext cx="5394960" cy="1783080"/>
          </a:xfrm>
          <a:prstGeom prst="rect">
            <a:avLst/>
          </a:prstGeom>
          <a:solidFill>
            <a:srgbClr val="F7F8FC"/>
          </a:solidFill>
          <a:ln/>
        </p:spPr>
      </p:sp>
      <p:sp>
        <p:nvSpPr>
          <p:cNvPr id="6" name="Text 4"/>
          <p:cNvSpPr/>
          <p:nvPr/>
        </p:nvSpPr>
        <p:spPr>
          <a:xfrm>
            <a:off x="822960" y="2267712"/>
            <a:ext cx="4846320" cy="36576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RFM Segmentation</a:t>
            </a:r>
            <a:endParaRPr lang="en-US" sz="1500" dirty="0"/>
          </a:p>
        </p:txBody>
      </p:sp>
      <p:sp>
        <p:nvSpPr>
          <p:cNvPr id="7" name="Text 5"/>
          <p:cNvSpPr/>
          <p:nvPr/>
        </p:nvSpPr>
        <p:spPr>
          <a:xfrm>
            <a:off x="822960" y="2670048"/>
            <a:ext cx="4846320" cy="868680"/>
          </a:xfrm>
          <a:prstGeom prst="rect">
            <a:avLst/>
          </a:prstGeom>
          <a:noFill/>
          <a:ln/>
        </p:spPr>
        <p:txBody>
          <a:bodyPr wrap="square" lIns="0" tIns="0" rIns="0" bIns="0" rtlCol="0" anchor="ctr"/>
          <a:lstStyle/>
          <a:p>
            <a:pPr marL="0" indent="0">
              <a:lnSpc>
                <a:spcPct val="120000"/>
              </a:lnSpc>
              <a:buNone/>
            </a:pPr>
            <a:r>
              <a:rPr lang="en-US" sz="1150" dirty="0">
                <a:solidFill>
                  <a:srgbClr val="1F2333"/>
                </a:solidFill>
                <a:latin typeface="Calibri" pitchFamily="34" charset="0"/>
                <a:ea typeface="Calibri" pitchFamily="34" charset="-122"/>
                <a:cs typeface="Calibri" pitchFamily="34" charset="-120"/>
              </a:rPr>
              <a:t>Recency, Frequency, Monetary scored via np.percentile + np.digitize, combined into a single loyalty score.</a:t>
            </a:r>
            <a:endParaRPr lang="en-US" sz="1150" dirty="0"/>
          </a:p>
        </p:txBody>
      </p:sp>
      <p:sp>
        <p:nvSpPr>
          <p:cNvPr id="8" name="Text 6"/>
          <p:cNvSpPr/>
          <p:nvPr/>
        </p:nvSpPr>
        <p:spPr>
          <a:xfrm>
            <a:off x="822960" y="3520440"/>
            <a:ext cx="4846320" cy="320040"/>
          </a:xfrm>
          <a:prstGeom prst="rect">
            <a:avLst/>
          </a:prstGeom>
          <a:noFill/>
          <a:ln/>
        </p:spPr>
        <p:txBody>
          <a:bodyPr wrap="square" lIns="0" tIns="0" rIns="0" bIns="0" rtlCol="0" anchor="ctr"/>
          <a:lstStyle/>
          <a:p>
            <a:pPr marL="0" indent="0">
              <a:buNone/>
            </a:pPr>
            <a:r>
              <a:rPr lang="en-US" sz="1050" b="1" i="1" dirty="0">
                <a:solidFill>
                  <a:srgbClr val="F2A93B"/>
                </a:solidFill>
                <a:latin typeface="Calibri" pitchFamily="34" charset="0"/>
                <a:ea typeface="Calibri" pitchFamily="34" charset="-122"/>
                <a:cs typeface="Calibri" pitchFamily="34" charset="-120"/>
              </a:rPr>
              <a:t>Validated vs. pandas.qcut</a:t>
            </a:r>
            <a:endParaRPr lang="en-US" sz="1050" dirty="0"/>
          </a:p>
        </p:txBody>
      </p:sp>
      <p:sp>
        <p:nvSpPr>
          <p:cNvPr id="9" name="Shape 7"/>
          <p:cNvSpPr/>
          <p:nvPr/>
        </p:nvSpPr>
        <p:spPr>
          <a:xfrm>
            <a:off x="6400800" y="2103120"/>
            <a:ext cx="5394960" cy="1783080"/>
          </a:xfrm>
          <a:prstGeom prst="rect">
            <a:avLst/>
          </a:prstGeom>
          <a:solidFill>
            <a:srgbClr val="F7F8FC"/>
          </a:solidFill>
          <a:ln/>
        </p:spPr>
      </p:sp>
      <p:sp>
        <p:nvSpPr>
          <p:cNvPr id="10" name="Text 8"/>
          <p:cNvSpPr/>
          <p:nvPr/>
        </p:nvSpPr>
        <p:spPr>
          <a:xfrm>
            <a:off x="6675120" y="2267712"/>
            <a:ext cx="4846320" cy="36576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Product Similarity</a:t>
            </a:r>
            <a:endParaRPr lang="en-US" sz="1500" dirty="0"/>
          </a:p>
        </p:txBody>
      </p:sp>
      <p:sp>
        <p:nvSpPr>
          <p:cNvPr id="11" name="Text 9"/>
          <p:cNvSpPr/>
          <p:nvPr/>
        </p:nvSpPr>
        <p:spPr>
          <a:xfrm>
            <a:off x="6675120" y="2670048"/>
            <a:ext cx="4846320" cy="868680"/>
          </a:xfrm>
          <a:prstGeom prst="rect">
            <a:avLst/>
          </a:prstGeom>
          <a:noFill/>
          <a:ln/>
        </p:spPr>
        <p:txBody>
          <a:bodyPr wrap="square" lIns="0" tIns="0" rIns="0" bIns="0" rtlCol="0" anchor="ctr"/>
          <a:lstStyle/>
          <a:p>
            <a:pPr marL="0" indent="0">
              <a:lnSpc>
                <a:spcPct val="120000"/>
              </a:lnSpc>
              <a:buNone/>
            </a:pPr>
            <a:r>
              <a:rPr lang="en-US" sz="1150" dirty="0">
                <a:solidFill>
                  <a:srgbClr val="1F2333"/>
                </a:solidFill>
                <a:latin typeface="Calibri" pitchFamily="34" charset="0"/>
                <a:ea typeface="Calibri" pitchFamily="34" charset="-122"/>
                <a:cs typeface="Calibri" pitchFamily="34" charset="-120"/>
              </a:rPr>
              <a:t>cos(A,B) = (A·B) / (‖A‖‖B‖) — computed via matrix multiplication for every product pair at once.</a:t>
            </a:r>
            <a:endParaRPr lang="en-US" sz="1150" dirty="0"/>
          </a:p>
        </p:txBody>
      </p:sp>
      <p:sp>
        <p:nvSpPr>
          <p:cNvPr id="12" name="Text 10"/>
          <p:cNvSpPr/>
          <p:nvPr/>
        </p:nvSpPr>
        <p:spPr>
          <a:xfrm>
            <a:off x="6675120" y="3520440"/>
            <a:ext cx="4846320" cy="320040"/>
          </a:xfrm>
          <a:prstGeom prst="rect">
            <a:avLst/>
          </a:prstGeom>
          <a:noFill/>
          <a:ln/>
        </p:spPr>
        <p:txBody>
          <a:bodyPr wrap="square" lIns="0" tIns="0" rIns="0" bIns="0" rtlCol="0" anchor="ctr"/>
          <a:lstStyle/>
          <a:p>
            <a:pPr marL="0" indent="0">
              <a:buNone/>
            </a:pPr>
            <a:r>
              <a:rPr lang="en-US" sz="1050" b="1" i="1" dirty="0">
                <a:solidFill>
                  <a:srgbClr val="F2A93B"/>
                </a:solidFill>
                <a:latin typeface="Calibri" pitchFamily="34" charset="0"/>
                <a:ea typeface="Calibri" pitchFamily="34" charset="-122"/>
                <a:cs typeface="Calibri" pitchFamily="34" charset="-120"/>
              </a:rPr>
              <a:t>Validated vs. sklearn cosine_similarity (diff ≈ 0)</a:t>
            </a:r>
            <a:endParaRPr lang="en-US" sz="1050" dirty="0"/>
          </a:p>
        </p:txBody>
      </p:sp>
      <p:sp>
        <p:nvSpPr>
          <p:cNvPr id="13" name="Shape 11"/>
          <p:cNvSpPr/>
          <p:nvPr/>
        </p:nvSpPr>
        <p:spPr>
          <a:xfrm>
            <a:off x="548640" y="4069080"/>
            <a:ext cx="5394960" cy="1783080"/>
          </a:xfrm>
          <a:prstGeom prst="rect">
            <a:avLst/>
          </a:prstGeom>
          <a:solidFill>
            <a:srgbClr val="F7F8FC"/>
          </a:solidFill>
          <a:ln/>
        </p:spPr>
      </p:sp>
      <p:sp>
        <p:nvSpPr>
          <p:cNvPr id="14" name="Text 12"/>
          <p:cNvSpPr/>
          <p:nvPr/>
        </p:nvSpPr>
        <p:spPr>
          <a:xfrm>
            <a:off x="822960" y="4233672"/>
            <a:ext cx="4846320" cy="36576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Regression (Normal Equation)</a:t>
            </a:r>
            <a:endParaRPr lang="en-US" sz="1500" dirty="0"/>
          </a:p>
        </p:txBody>
      </p:sp>
      <p:sp>
        <p:nvSpPr>
          <p:cNvPr id="15" name="Text 13"/>
          <p:cNvSpPr/>
          <p:nvPr/>
        </p:nvSpPr>
        <p:spPr>
          <a:xfrm>
            <a:off x="822960" y="4636008"/>
            <a:ext cx="4846320" cy="868680"/>
          </a:xfrm>
          <a:prstGeom prst="rect">
            <a:avLst/>
          </a:prstGeom>
          <a:noFill/>
          <a:ln/>
        </p:spPr>
        <p:txBody>
          <a:bodyPr wrap="square" lIns="0" tIns="0" rIns="0" bIns="0" rtlCol="0" anchor="ctr"/>
          <a:lstStyle/>
          <a:p>
            <a:pPr marL="0" indent="0">
              <a:lnSpc>
                <a:spcPct val="120000"/>
              </a:lnSpc>
              <a:buNone/>
            </a:pPr>
            <a:r>
              <a:rPr lang="en-US" sz="1150" dirty="0">
                <a:solidFill>
                  <a:srgbClr val="1F2333"/>
                </a:solidFill>
                <a:latin typeface="Calibri" pitchFamily="34" charset="0"/>
                <a:ea typeface="Calibri" pitchFamily="34" charset="-122"/>
                <a:cs typeface="Calibri" pitchFamily="34" charset="-120"/>
              </a:rPr>
              <a:t>β = (XᵀX)⁻¹Xᵀy, solved exactly with np.linalg.inv — R² computed by hand.</a:t>
            </a:r>
            <a:endParaRPr lang="en-US" sz="1150" dirty="0"/>
          </a:p>
        </p:txBody>
      </p:sp>
      <p:sp>
        <p:nvSpPr>
          <p:cNvPr id="16" name="Text 14"/>
          <p:cNvSpPr/>
          <p:nvPr/>
        </p:nvSpPr>
        <p:spPr>
          <a:xfrm>
            <a:off x="822960" y="5486400"/>
            <a:ext cx="4846320" cy="320040"/>
          </a:xfrm>
          <a:prstGeom prst="rect">
            <a:avLst/>
          </a:prstGeom>
          <a:noFill/>
          <a:ln/>
        </p:spPr>
        <p:txBody>
          <a:bodyPr wrap="square" lIns="0" tIns="0" rIns="0" bIns="0" rtlCol="0" anchor="ctr"/>
          <a:lstStyle/>
          <a:p>
            <a:pPr marL="0" indent="0">
              <a:buNone/>
            </a:pPr>
            <a:r>
              <a:rPr lang="en-US" sz="1050" b="1" i="1" dirty="0">
                <a:solidFill>
                  <a:srgbClr val="F2A93B"/>
                </a:solidFill>
                <a:latin typeface="Calibri" pitchFamily="34" charset="0"/>
                <a:ea typeface="Calibri" pitchFamily="34" charset="-122"/>
                <a:cs typeface="Calibri" pitchFamily="34" charset="-120"/>
              </a:rPr>
              <a:t>Validated vs. sklearn LinearRegression</a:t>
            </a:r>
            <a:endParaRPr lang="en-US" sz="1050" dirty="0"/>
          </a:p>
        </p:txBody>
      </p:sp>
      <p:sp>
        <p:nvSpPr>
          <p:cNvPr id="17" name="Shape 15"/>
          <p:cNvSpPr/>
          <p:nvPr/>
        </p:nvSpPr>
        <p:spPr>
          <a:xfrm>
            <a:off x="6400800" y="4069080"/>
            <a:ext cx="5394960" cy="1783080"/>
          </a:xfrm>
          <a:prstGeom prst="rect">
            <a:avLst/>
          </a:prstGeom>
          <a:solidFill>
            <a:srgbClr val="F7F8FC"/>
          </a:solidFill>
          <a:ln/>
        </p:spPr>
      </p:sp>
      <p:sp>
        <p:nvSpPr>
          <p:cNvPr id="18" name="Text 16"/>
          <p:cNvSpPr/>
          <p:nvPr/>
        </p:nvSpPr>
        <p:spPr>
          <a:xfrm>
            <a:off x="6675120" y="4233672"/>
            <a:ext cx="4846320" cy="36576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Monte Carlo Simulation</a:t>
            </a:r>
            <a:endParaRPr lang="en-US" sz="1500" dirty="0"/>
          </a:p>
        </p:txBody>
      </p:sp>
      <p:sp>
        <p:nvSpPr>
          <p:cNvPr id="19" name="Text 17"/>
          <p:cNvSpPr/>
          <p:nvPr/>
        </p:nvSpPr>
        <p:spPr>
          <a:xfrm>
            <a:off x="6675120" y="4636008"/>
            <a:ext cx="4846320" cy="868680"/>
          </a:xfrm>
          <a:prstGeom prst="rect">
            <a:avLst/>
          </a:prstGeom>
          <a:noFill/>
          <a:ln/>
        </p:spPr>
        <p:txBody>
          <a:bodyPr wrap="square" lIns="0" tIns="0" rIns="0" bIns="0" rtlCol="0" anchor="ctr"/>
          <a:lstStyle/>
          <a:p>
            <a:pPr marL="0" indent="0">
              <a:lnSpc>
                <a:spcPct val="120000"/>
              </a:lnSpc>
              <a:buNone/>
            </a:pPr>
            <a:r>
              <a:rPr lang="en-US" sz="1150" dirty="0">
                <a:solidFill>
                  <a:srgbClr val="1F2333"/>
                </a:solidFill>
                <a:latin typeface="Calibri" pitchFamily="34" charset="0"/>
                <a:ea typeface="Calibri" pitchFamily="34" charset="-122"/>
                <a:cs typeface="Calibri" pitchFamily="34" charset="-120"/>
              </a:rPr>
              <a:t>5,000 simulated demand trials per product via np.random.normal — stockout probability + 95% CI.</a:t>
            </a:r>
            <a:endParaRPr lang="en-US" sz="1150" dirty="0"/>
          </a:p>
        </p:txBody>
      </p:sp>
      <p:sp>
        <p:nvSpPr>
          <p:cNvPr id="20" name="Text 18"/>
          <p:cNvSpPr/>
          <p:nvPr/>
        </p:nvSpPr>
        <p:spPr>
          <a:xfrm>
            <a:off x="6675120" y="5486400"/>
            <a:ext cx="4846320" cy="320040"/>
          </a:xfrm>
          <a:prstGeom prst="rect">
            <a:avLst/>
          </a:prstGeom>
          <a:noFill/>
          <a:ln/>
        </p:spPr>
        <p:txBody>
          <a:bodyPr wrap="square" lIns="0" tIns="0" rIns="0" bIns="0" rtlCol="0" anchor="ctr"/>
          <a:lstStyle/>
          <a:p>
            <a:pPr marL="0" indent="0">
              <a:buNone/>
            </a:pPr>
            <a:r>
              <a:rPr lang="en-US" sz="1050" b="1" i="1" dirty="0">
                <a:solidFill>
                  <a:srgbClr val="F2A93B"/>
                </a:solidFill>
                <a:latin typeface="Calibri" pitchFamily="34" charset="0"/>
                <a:ea typeface="Calibri" pitchFamily="34" charset="-122"/>
                <a:cs typeface="Calibri" pitchFamily="34" charset="-120"/>
              </a:rPr>
              <a:t>Validated against a trivial known-outcome case</a:t>
            </a:r>
            <a:endParaRPr lang="en-US" sz="1050" dirty="0"/>
          </a:p>
        </p:txBody>
      </p:sp>
      <p:sp>
        <p:nvSpPr>
          <p:cNvPr id="21" name="Text 19"/>
          <p:cNvSpPr/>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5B6785"/>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47"/>
        </a:solidFill>
        <a:effectLst/>
      </p:bgPr>
    </p:bg>
    <p:spTree>
      <p:nvGrpSpPr>
        <p:cNvPr id="1" name=""/>
        <p:cNvGrpSpPr/>
        <p:nvPr/>
      </p:nvGrpSpPr>
      <p:grpSpPr>
        <a:xfrm>
          <a:off x="0" y="0"/>
          <a:ext cx="0" cy="0"/>
          <a:chOff x="0" y="0"/>
          <a:chExt cx="0" cy="0"/>
        </a:xfrm>
      </p:grpSpPr>
      <p:sp>
        <p:nvSpPr>
          <p:cNvPr id="2" name="Text 0"/>
          <p:cNvSpPr/>
          <p:nvPr/>
        </p:nvSpPr>
        <p:spPr>
          <a:xfrm>
            <a:off x="822960" y="2377440"/>
            <a:ext cx="2743200" cy="1463040"/>
          </a:xfrm>
          <a:prstGeom prst="rect">
            <a:avLst/>
          </a:prstGeom>
          <a:noFill/>
          <a:ln/>
        </p:spPr>
        <p:txBody>
          <a:bodyPr wrap="square" lIns="0" tIns="0" rIns="0" bIns="0" rtlCol="0" anchor="ctr"/>
          <a:lstStyle/>
          <a:p>
            <a:pPr marL="0" indent="0">
              <a:buNone/>
            </a:pPr>
            <a:r>
              <a:rPr lang="en-US" sz="7200" b="1" dirty="0">
                <a:solidFill>
                  <a:srgbClr val="F2A93B"/>
                </a:solidFill>
                <a:latin typeface="Cambria" pitchFamily="34" charset="0"/>
                <a:ea typeface="Cambria" pitchFamily="34" charset="-122"/>
                <a:cs typeface="Cambria" pitchFamily="34" charset="-120"/>
              </a:rPr>
              <a:t>05</a:t>
            </a:r>
            <a:endParaRPr lang="en-US" sz="7200" dirty="0"/>
          </a:p>
        </p:txBody>
      </p:sp>
      <p:sp>
        <p:nvSpPr>
          <p:cNvPr id="3" name="Text 1"/>
          <p:cNvSpPr/>
          <p:nvPr/>
        </p:nvSpPr>
        <p:spPr>
          <a:xfrm>
            <a:off x="822960" y="3566160"/>
            <a:ext cx="10058400" cy="11887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Eight Findings</a:t>
            </a:r>
            <a:endParaRPr lang="en-US" sz="3200" dirty="0"/>
          </a:p>
        </p:txBody>
      </p:sp>
      <p:sp>
        <p:nvSpPr>
          <p:cNvPr id="4" name="Text 2"/>
          <p:cNvSpPr/>
          <p:nvPr/>
        </p:nvSpPr>
        <p:spPr>
          <a:xfrm>
            <a:off x="822960" y="4434840"/>
            <a:ext cx="9601200" cy="731520"/>
          </a:xfrm>
          <a:prstGeom prst="rect">
            <a:avLst/>
          </a:prstGeom>
          <a:noFill/>
          <a:ln/>
        </p:spPr>
        <p:txBody>
          <a:bodyPr wrap="square" lIns="0" tIns="0" rIns="0" bIns="0"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What the cleaned data actually says, backed by a chart and a number for each.</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058400" cy="320040"/>
          </a:xfrm>
          <a:prstGeom prst="rect">
            <a:avLst/>
          </a:prstGeom>
          <a:noFill/>
          <a:ln/>
        </p:spPr>
        <p:txBody>
          <a:bodyPr wrap="square" rtlCol="0" anchor="ctr"/>
          <a:lstStyle/>
          <a:p>
            <a:pPr marL="0" indent="0">
              <a:buNone/>
            </a:pPr>
            <a:r>
              <a:rPr lang="en-US" sz="1200" b="1" kern="0" spc="150" dirty="0">
                <a:solidFill>
                  <a:srgbClr val="F2A93B"/>
                </a:solidFill>
                <a:latin typeface="Calibri" pitchFamily="34" charset="0"/>
                <a:ea typeface="Calibri" pitchFamily="34" charset="-122"/>
                <a:cs typeface="Calibri" pitchFamily="34" charset="-120"/>
              </a:rPr>
              <a:t>FINDING 1 OF 8</a:t>
            </a:r>
            <a:endParaRPr lang="en-US" sz="1200" dirty="0"/>
          </a:p>
        </p:txBody>
      </p:sp>
      <p:sp>
        <p:nvSpPr>
          <p:cNvPr id="3" name="Text 1"/>
          <p:cNvSpPr/>
          <p:nvPr/>
        </p:nvSpPr>
        <p:spPr>
          <a:xfrm>
            <a:off x="548640" y="621792"/>
            <a:ext cx="10972800" cy="64008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Best Customer Segment: Champions</a:t>
            </a:r>
            <a:endParaRPr lang="en-US" sz="2600" dirty="0"/>
          </a:p>
        </p:txBody>
      </p:sp>
      <p:pic>
        <p:nvPicPr>
          <p:cNvPr id="4" name="Image 0" descr="/home/claude/deck/assets/q1_segment_revenue.png"/>
          <p:cNvPicPr>
            <a:picLocks noChangeAspect="1"/>
          </p:cNvPicPr>
          <p:nvPr/>
        </p:nvPicPr>
        <p:blipFill>
          <a:blip r:embed="rId3"/>
          <a:stretch>
            <a:fillRect/>
          </a:stretch>
        </p:blipFill>
        <p:spPr>
          <a:xfrm>
            <a:off x="502920" y="1600200"/>
            <a:ext cx="7223760" cy="4517136"/>
          </a:xfrm>
          <a:prstGeom prst="rect">
            <a:avLst/>
          </a:prstGeom>
        </p:spPr>
      </p:pic>
      <p:sp>
        <p:nvSpPr>
          <p:cNvPr id="5" name="Shape 2"/>
          <p:cNvSpPr/>
          <p:nvPr/>
        </p:nvSpPr>
        <p:spPr>
          <a:xfrm>
            <a:off x="8092440" y="1234440"/>
            <a:ext cx="3657600" cy="5120640"/>
          </a:xfrm>
          <a:prstGeom prst="rect">
            <a:avLst/>
          </a:prstGeom>
          <a:solidFill>
            <a:srgbClr val="F7F8FC"/>
          </a:solidFill>
          <a:ln/>
        </p:spPr>
      </p:sp>
      <p:sp>
        <p:nvSpPr>
          <p:cNvPr id="6" name="Text 3"/>
          <p:cNvSpPr/>
          <p:nvPr/>
        </p:nvSpPr>
        <p:spPr>
          <a:xfrm>
            <a:off x="8366760" y="1463040"/>
            <a:ext cx="3108960" cy="365760"/>
          </a:xfrm>
          <a:prstGeom prst="rect">
            <a:avLst/>
          </a:prstGeom>
          <a:noFill/>
          <a:ln/>
        </p:spPr>
        <p:txBody>
          <a:bodyPr wrap="square" rtlCol="0" anchor="ctr"/>
          <a:lstStyle/>
          <a:p>
            <a:pPr marL="0" indent="0">
              <a:buNone/>
            </a:pPr>
            <a:r>
              <a:rPr lang="en-US" sz="1100" b="1" kern="0" spc="100" dirty="0">
                <a:solidFill>
                  <a:srgbClr val="5B6785"/>
                </a:solidFill>
                <a:latin typeface="Calibri" pitchFamily="34" charset="0"/>
                <a:ea typeface="Calibri" pitchFamily="34" charset="-122"/>
                <a:cs typeface="Calibri" pitchFamily="34" charset="-120"/>
              </a:rPr>
              <a:t>REVENUE SHARE</a:t>
            </a:r>
            <a:endParaRPr lang="en-US" sz="1100" dirty="0"/>
          </a:p>
        </p:txBody>
      </p:sp>
      <p:sp>
        <p:nvSpPr>
          <p:cNvPr id="7" name="Text 4"/>
          <p:cNvSpPr/>
          <p:nvPr/>
        </p:nvSpPr>
        <p:spPr>
          <a:xfrm>
            <a:off x="8366760" y="1783080"/>
            <a:ext cx="3108960" cy="91440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48%</a:t>
            </a:r>
            <a:endParaRPr lang="en-US" sz="3400" dirty="0"/>
          </a:p>
        </p:txBody>
      </p:sp>
      <p:sp>
        <p:nvSpPr>
          <p:cNvPr id="8" name="Shape 5"/>
          <p:cNvSpPr/>
          <p:nvPr/>
        </p:nvSpPr>
        <p:spPr>
          <a:xfrm>
            <a:off x="8366760" y="2788920"/>
            <a:ext cx="3108960" cy="0"/>
          </a:xfrm>
          <a:prstGeom prst="line">
            <a:avLst/>
          </a:prstGeom>
          <a:noFill/>
          <a:ln w="25400">
            <a:solidFill>
              <a:srgbClr val="F2A93B"/>
            </a:solidFill>
            <a:prstDash val="solid"/>
          </a:ln>
        </p:spPr>
      </p:sp>
      <p:sp>
        <p:nvSpPr>
          <p:cNvPr id="9" name="Text 6"/>
          <p:cNvSpPr/>
          <p:nvPr/>
        </p:nvSpPr>
        <p:spPr>
          <a:xfrm>
            <a:off x="8366760" y="2971800"/>
            <a:ext cx="3108960" cy="3200400"/>
          </a:xfrm>
          <a:prstGeom prst="rect">
            <a:avLst/>
          </a:prstGeom>
          <a:noFill/>
          <a:ln/>
        </p:spPr>
        <p:txBody>
          <a:bodyPr wrap="square" rtlCol="0" anchor="t"/>
          <a:lstStyle/>
          <a:p>
            <a:pPr marL="0" indent="0">
              <a:lnSpc>
                <a:spcPct val="125000"/>
              </a:lnSpc>
              <a:buNone/>
            </a:pPr>
            <a:r>
              <a:rPr lang="en-US" sz="1250" dirty="0">
                <a:solidFill>
                  <a:srgbClr val="1F2333"/>
                </a:solidFill>
                <a:latin typeface="Calibri" pitchFamily="34" charset="0"/>
                <a:ea typeface="Calibri" pitchFamily="34" charset="-122"/>
                <a:cs typeface="Calibri" pitchFamily="34" charset="-120"/>
              </a:rPr>
              <a:t>“Champions” are just 504 of 2,191 purchasing customers (23%) but generate $3.63M — nearly half of all revenue. They aren't demographically distinct (same age, same top country as everyone else). This is a behavioral story, not a demographic one.</a:t>
            </a:r>
            <a:endParaRPr lang="en-US" sz="1250" dirty="0"/>
          </a:p>
        </p:txBody>
      </p:sp>
      <p:sp>
        <p:nvSpPr>
          <p:cNvPr id="10" name="Text 7"/>
          <p:cNvSpPr/>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5B6785"/>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058400" cy="320040"/>
          </a:xfrm>
          <a:prstGeom prst="rect">
            <a:avLst/>
          </a:prstGeom>
          <a:noFill/>
          <a:ln/>
        </p:spPr>
        <p:txBody>
          <a:bodyPr wrap="square" rtlCol="0" anchor="ctr"/>
          <a:lstStyle/>
          <a:p>
            <a:pPr marL="0" indent="0">
              <a:buNone/>
            </a:pPr>
            <a:r>
              <a:rPr lang="en-US" sz="1200" b="1" kern="0" spc="150" dirty="0">
                <a:solidFill>
                  <a:srgbClr val="F2A93B"/>
                </a:solidFill>
                <a:latin typeface="Calibri" pitchFamily="34" charset="0"/>
                <a:ea typeface="Calibri" pitchFamily="34" charset="-122"/>
                <a:cs typeface="Calibri" pitchFamily="34" charset="-120"/>
              </a:rPr>
              <a:t>FINDING 2 OF 8</a:t>
            </a:r>
            <a:endParaRPr lang="en-US" sz="1200" dirty="0"/>
          </a:p>
        </p:txBody>
      </p:sp>
      <p:sp>
        <p:nvSpPr>
          <p:cNvPr id="3" name="Text 1"/>
          <p:cNvSpPr/>
          <p:nvPr/>
        </p:nvSpPr>
        <p:spPr>
          <a:xfrm>
            <a:off x="548640" y="621792"/>
            <a:ext cx="10972800" cy="64008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Revenue Is Seasonal, Not Flat</a:t>
            </a:r>
            <a:endParaRPr lang="en-US" sz="2600" dirty="0"/>
          </a:p>
        </p:txBody>
      </p:sp>
      <p:pic>
        <p:nvPicPr>
          <p:cNvPr id="4" name="Image 0" descr="/home/claude/deck/assets/q2_seasonality.png"/>
          <p:cNvPicPr>
            <a:picLocks noChangeAspect="1"/>
          </p:cNvPicPr>
          <p:nvPr/>
        </p:nvPicPr>
        <p:blipFill>
          <a:blip r:embed="rId3"/>
          <a:stretch>
            <a:fillRect/>
          </a:stretch>
        </p:blipFill>
        <p:spPr>
          <a:xfrm>
            <a:off x="502920" y="2011680"/>
            <a:ext cx="7223760" cy="3611880"/>
          </a:xfrm>
          <a:prstGeom prst="rect">
            <a:avLst/>
          </a:prstGeom>
        </p:spPr>
      </p:pic>
      <p:sp>
        <p:nvSpPr>
          <p:cNvPr id="5" name="Shape 2"/>
          <p:cNvSpPr/>
          <p:nvPr/>
        </p:nvSpPr>
        <p:spPr>
          <a:xfrm>
            <a:off x="8092440" y="1234440"/>
            <a:ext cx="3657600" cy="5120640"/>
          </a:xfrm>
          <a:prstGeom prst="rect">
            <a:avLst/>
          </a:prstGeom>
          <a:solidFill>
            <a:srgbClr val="F7F8FC"/>
          </a:solidFill>
          <a:ln/>
        </p:spPr>
      </p:sp>
      <p:sp>
        <p:nvSpPr>
          <p:cNvPr id="6" name="Text 3"/>
          <p:cNvSpPr/>
          <p:nvPr/>
        </p:nvSpPr>
        <p:spPr>
          <a:xfrm>
            <a:off x="8366760" y="1463040"/>
            <a:ext cx="3108960" cy="365760"/>
          </a:xfrm>
          <a:prstGeom prst="rect">
            <a:avLst/>
          </a:prstGeom>
          <a:noFill/>
          <a:ln/>
        </p:spPr>
        <p:txBody>
          <a:bodyPr wrap="square" rtlCol="0" anchor="ctr"/>
          <a:lstStyle/>
          <a:p>
            <a:pPr marL="0" indent="0">
              <a:buNone/>
            </a:pPr>
            <a:r>
              <a:rPr lang="en-US" sz="1100" b="1" kern="0" spc="100" dirty="0">
                <a:solidFill>
                  <a:srgbClr val="5B6785"/>
                </a:solidFill>
                <a:latin typeface="Calibri" pitchFamily="34" charset="0"/>
                <a:ea typeface="Calibri" pitchFamily="34" charset="-122"/>
                <a:cs typeface="Calibri" pitchFamily="34" charset="-120"/>
              </a:rPr>
              <a:t>BEST VS. WORST MONTH</a:t>
            </a:r>
            <a:endParaRPr lang="en-US" sz="1100" dirty="0"/>
          </a:p>
        </p:txBody>
      </p:sp>
      <p:sp>
        <p:nvSpPr>
          <p:cNvPr id="7" name="Text 4"/>
          <p:cNvSpPr/>
          <p:nvPr/>
        </p:nvSpPr>
        <p:spPr>
          <a:xfrm>
            <a:off x="8366760" y="1783080"/>
            <a:ext cx="3108960" cy="91440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+80%</a:t>
            </a:r>
            <a:endParaRPr lang="en-US" sz="3400" dirty="0"/>
          </a:p>
        </p:txBody>
      </p:sp>
      <p:sp>
        <p:nvSpPr>
          <p:cNvPr id="8" name="Shape 5"/>
          <p:cNvSpPr/>
          <p:nvPr/>
        </p:nvSpPr>
        <p:spPr>
          <a:xfrm>
            <a:off x="8366760" y="2788920"/>
            <a:ext cx="3108960" cy="0"/>
          </a:xfrm>
          <a:prstGeom prst="line">
            <a:avLst/>
          </a:prstGeom>
          <a:noFill/>
          <a:ln w="25400">
            <a:solidFill>
              <a:srgbClr val="F2A93B"/>
            </a:solidFill>
            <a:prstDash val="solid"/>
          </a:ln>
        </p:spPr>
      </p:sp>
      <p:sp>
        <p:nvSpPr>
          <p:cNvPr id="9" name="Text 6"/>
          <p:cNvSpPr/>
          <p:nvPr/>
        </p:nvSpPr>
        <p:spPr>
          <a:xfrm>
            <a:off x="8366760" y="2971800"/>
            <a:ext cx="3108960" cy="3200400"/>
          </a:xfrm>
          <a:prstGeom prst="rect">
            <a:avLst/>
          </a:prstGeom>
          <a:noFill/>
          <a:ln/>
        </p:spPr>
        <p:txBody>
          <a:bodyPr wrap="square" rtlCol="0" anchor="t"/>
          <a:lstStyle/>
          <a:p>
            <a:pPr marL="0" indent="0">
              <a:lnSpc>
                <a:spcPct val="125000"/>
              </a:lnSpc>
              <a:buNone/>
            </a:pPr>
            <a:r>
              <a:rPr lang="en-US" sz="1250" dirty="0">
                <a:solidFill>
                  <a:srgbClr val="1F2333"/>
                </a:solidFill>
                <a:latin typeface="Calibri" pitchFamily="34" charset="0"/>
                <a:ea typeface="Calibri" pitchFamily="34" charset="-122"/>
                <a:cs typeface="Calibri" pitchFamily="34" charset="-120"/>
              </a:rPr>
              <a:t>November averages $273,696 in revenue; February averages just $151,670 — a swing of roughly 80%. The 3-month rolling average confirms this repeats every year. Inventory and staffing plans should not assume flat monthly demand.</a:t>
            </a:r>
            <a:endParaRPr lang="en-US" sz="1250" dirty="0"/>
          </a:p>
        </p:txBody>
      </p:sp>
      <p:sp>
        <p:nvSpPr>
          <p:cNvPr id="10" name="Text 7"/>
          <p:cNvSpPr/>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5B678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058400" cy="320040"/>
          </a:xfrm>
          <a:prstGeom prst="rect">
            <a:avLst/>
          </a:prstGeom>
          <a:noFill/>
          <a:ln/>
        </p:spPr>
        <p:txBody>
          <a:bodyPr wrap="square" rtlCol="0" anchor="ctr"/>
          <a:lstStyle/>
          <a:p>
            <a:pPr marL="0" indent="0">
              <a:buNone/>
            </a:pPr>
            <a:r>
              <a:rPr lang="en-US" sz="1200" b="1" kern="0" spc="150" dirty="0">
                <a:solidFill>
                  <a:srgbClr val="F2A93B"/>
                </a:solidFill>
                <a:latin typeface="Calibri" pitchFamily="34" charset="0"/>
                <a:ea typeface="Calibri" pitchFamily="34" charset="-122"/>
                <a:cs typeface="Calibri" pitchFamily="34" charset="-120"/>
              </a:rPr>
              <a:t>FINDING 3 OF 8</a:t>
            </a:r>
            <a:endParaRPr lang="en-US" sz="1200" dirty="0"/>
          </a:p>
        </p:txBody>
      </p:sp>
      <p:sp>
        <p:nvSpPr>
          <p:cNvPr id="3" name="Text 1"/>
          <p:cNvSpPr/>
          <p:nvPr/>
        </p:nvSpPr>
        <p:spPr>
          <a:xfrm>
            <a:off x="548640" y="621792"/>
            <a:ext cx="10972800" cy="64008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Books &amp; Media Wins on Margin</a:t>
            </a:r>
            <a:endParaRPr lang="en-US" sz="2600" dirty="0"/>
          </a:p>
        </p:txBody>
      </p:sp>
      <p:pic>
        <p:nvPicPr>
          <p:cNvPr id="4" name="Image 0" descr="/home/claude/deck/assets/q3_margin.png"/>
          <p:cNvPicPr>
            <a:picLocks noChangeAspect="1"/>
          </p:cNvPicPr>
          <p:nvPr/>
        </p:nvPicPr>
        <p:blipFill>
          <a:blip r:embed="rId3"/>
          <a:stretch>
            <a:fillRect/>
          </a:stretch>
        </p:blipFill>
        <p:spPr>
          <a:xfrm>
            <a:off x="502920" y="1600200"/>
            <a:ext cx="7223760" cy="4517136"/>
          </a:xfrm>
          <a:prstGeom prst="rect">
            <a:avLst/>
          </a:prstGeom>
        </p:spPr>
      </p:pic>
      <p:sp>
        <p:nvSpPr>
          <p:cNvPr id="5" name="Shape 2"/>
          <p:cNvSpPr/>
          <p:nvPr/>
        </p:nvSpPr>
        <p:spPr>
          <a:xfrm>
            <a:off x="8092440" y="1234440"/>
            <a:ext cx="3657600" cy="5120640"/>
          </a:xfrm>
          <a:prstGeom prst="rect">
            <a:avLst/>
          </a:prstGeom>
          <a:solidFill>
            <a:srgbClr val="F7F8FC"/>
          </a:solidFill>
          <a:ln/>
        </p:spPr>
      </p:sp>
      <p:sp>
        <p:nvSpPr>
          <p:cNvPr id="6" name="Text 3"/>
          <p:cNvSpPr/>
          <p:nvPr/>
        </p:nvSpPr>
        <p:spPr>
          <a:xfrm>
            <a:off x="8366760" y="1463040"/>
            <a:ext cx="3108960" cy="365760"/>
          </a:xfrm>
          <a:prstGeom prst="rect">
            <a:avLst/>
          </a:prstGeom>
          <a:noFill/>
          <a:ln/>
        </p:spPr>
        <p:txBody>
          <a:bodyPr wrap="square" rtlCol="0" anchor="ctr"/>
          <a:lstStyle/>
          <a:p>
            <a:pPr marL="0" indent="0">
              <a:buNone/>
            </a:pPr>
            <a:r>
              <a:rPr lang="en-US" sz="1100" b="1" kern="0" spc="100" dirty="0">
                <a:solidFill>
                  <a:srgbClr val="5B6785"/>
                </a:solidFill>
                <a:latin typeface="Calibri" pitchFamily="34" charset="0"/>
                <a:ea typeface="Calibri" pitchFamily="34" charset="-122"/>
                <a:cs typeface="Calibri" pitchFamily="34" charset="-120"/>
              </a:rPr>
              <a:t>TOP CATEGORY MARGIN</a:t>
            </a:r>
            <a:endParaRPr lang="en-US" sz="1100" dirty="0"/>
          </a:p>
        </p:txBody>
      </p:sp>
      <p:sp>
        <p:nvSpPr>
          <p:cNvPr id="7" name="Text 4"/>
          <p:cNvSpPr/>
          <p:nvPr/>
        </p:nvSpPr>
        <p:spPr>
          <a:xfrm>
            <a:off x="8366760" y="1783080"/>
            <a:ext cx="3108960" cy="91440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77.95%</a:t>
            </a:r>
            <a:endParaRPr lang="en-US" sz="3400" dirty="0"/>
          </a:p>
        </p:txBody>
      </p:sp>
      <p:sp>
        <p:nvSpPr>
          <p:cNvPr id="8" name="Shape 5"/>
          <p:cNvSpPr/>
          <p:nvPr/>
        </p:nvSpPr>
        <p:spPr>
          <a:xfrm>
            <a:off x="8366760" y="2788920"/>
            <a:ext cx="3108960" cy="0"/>
          </a:xfrm>
          <a:prstGeom prst="line">
            <a:avLst/>
          </a:prstGeom>
          <a:noFill/>
          <a:ln w="25400">
            <a:solidFill>
              <a:srgbClr val="F2A93B"/>
            </a:solidFill>
            <a:prstDash val="solid"/>
          </a:ln>
        </p:spPr>
      </p:sp>
      <p:sp>
        <p:nvSpPr>
          <p:cNvPr id="9" name="Text 6"/>
          <p:cNvSpPr/>
          <p:nvPr/>
        </p:nvSpPr>
        <p:spPr>
          <a:xfrm>
            <a:off x="8366760" y="2971800"/>
            <a:ext cx="3108960" cy="3200400"/>
          </a:xfrm>
          <a:prstGeom prst="rect">
            <a:avLst/>
          </a:prstGeom>
          <a:noFill/>
          <a:ln/>
        </p:spPr>
        <p:txBody>
          <a:bodyPr wrap="square" rtlCol="0" anchor="t"/>
          <a:lstStyle/>
          <a:p>
            <a:pPr marL="0" indent="0">
              <a:lnSpc>
                <a:spcPct val="125000"/>
              </a:lnSpc>
              <a:buNone/>
            </a:pPr>
            <a:r>
              <a:rPr lang="en-US" sz="1250" dirty="0">
                <a:solidFill>
                  <a:srgbClr val="1F2333"/>
                </a:solidFill>
                <a:latin typeface="Calibri" pitchFamily="34" charset="0"/>
                <a:ea typeface="Calibri" pitchFamily="34" charset="-122"/>
                <a:cs typeface="Calibri" pitchFamily="34" charset="-120"/>
              </a:rPr>
              <a:t>Books &amp; Media leads on effective margin after discounts and returns — well ahead of Beauty &amp; Health (70.9%) and far ahead of Electronics, Apparel, Sports, and Home &amp; Kitchen (47–53%). Revenue rank and margin rank tell different stories.</a:t>
            </a:r>
            <a:endParaRPr lang="en-US" sz="1250" dirty="0"/>
          </a:p>
        </p:txBody>
      </p:sp>
      <p:sp>
        <p:nvSpPr>
          <p:cNvPr id="10" name="Text 7"/>
          <p:cNvSpPr/>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5B678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058400" cy="320040"/>
          </a:xfrm>
          <a:prstGeom prst="rect">
            <a:avLst/>
          </a:prstGeom>
          <a:noFill/>
          <a:ln/>
        </p:spPr>
        <p:txBody>
          <a:bodyPr wrap="square" rtlCol="0" anchor="ctr"/>
          <a:lstStyle/>
          <a:p>
            <a:pPr marL="0" indent="0">
              <a:buNone/>
            </a:pPr>
            <a:r>
              <a:rPr lang="en-US" sz="1200" b="1" kern="0" spc="150" dirty="0">
                <a:solidFill>
                  <a:srgbClr val="F2A93B"/>
                </a:solidFill>
                <a:latin typeface="Calibri" pitchFamily="34" charset="0"/>
                <a:ea typeface="Calibri" pitchFamily="34" charset="-122"/>
                <a:cs typeface="Calibri" pitchFamily="34" charset="-120"/>
              </a:rPr>
              <a:t>FINDING 4 OF 8</a:t>
            </a:r>
            <a:endParaRPr lang="en-US" sz="1200" dirty="0"/>
          </a:p>
        </p:txBody>
      </p:sp>
      <p:sp>
        <p:nvSpPr>
          <p:cNvPr id="3" name="Text 1"/>
          <p:cNvSpPr/>
          <p:nvPr/>
        </p:nvSpPr>
        <p:spPr>
          <a:xfrm>
            <a:off x="548640" y="621792"/>
            <a:ext cx="10972800" cy="64008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Ratings Don't Predict Loyalty</a:t>
            </a:r>
            <a:endParaRPr lang="en-US" sz="2600" dirty="0"/>
          </a:p>
        </p:txBody>
      </p:sp>
      <p:pic>
        <p:nvPicPr>
          <p:cNvPr id="4" name="Image 0" descr="/home/claude/deck/assets/q4_rating_repeat.png"/>
          <p:cNvPicPr>
            <a:picLocks noChangeAspect="1"/>
          </p:cNvPicPr>
          <p:nvPr/>
        </p:nvPicPr>
        <p:blipFill>
          <a:blip r:embed="rId3"/>
          <a:stretch>
            <a:fillRect/>
          </a:stretch>
        </p:blipFill>
        <p:spPr>
          <a:xfrm>
            <a:off x="502920" y="1600200"/>
            <a:ext cx="6309360" cy="4517136"/>
          </a:xfrm>
          <a:prstGeom prst="rect">
            <a:avLst/>
          </a:prstGeom>
        </p:spPr>
      </p:pic>
      <p:sp>
        <p:nvSpPr>
          <p:cNvPr id="5" name="Shape 2"/>
          <p:cNvSpPr/>
          <p:nvPr/>
        </p:nvSpPr>
        <p:spPr>
          <a:xfrm>
            <a:off x="8092440" y="1234440"/>
            <a:ext cx="3657600" cy="5120640"/>
          </a:xfrm>
          <a:prstGeom prst="rect">
            <a:avLst/>
          </a:prstGeom>
          <a:solidFill>
            <a:srgbClr val="F7F8FC"/>
          </a:solidFill>
          <a:ln/>
        </p:spPr>
      </p:sp>
      <p:sp>
        <p:nvSpPr>
          <p:cNvPr id="6" name="Text 3"/>
          <p:cNvSpPr/>
          <p:nvPr/>
        </p:nvSpPr>
        <p:spPr>
          <a:xfrm>
            <a:off x="8366760" y="1463040"/>
            <a:ext cx="3108960" cy="365760"/>
          </a:xfrm>
          <a:prstGeom prst="rect">
            <a:avLst/>
          </a:prstGeom>
          <a:noFill/>
          <a:ln/>
        </p:spPr>
        <p:txBody>
          <a:bodyPr wrap="square" rtlCol="0" anchor="ctr"/>
          <a:lstStyle/>
          <a:p>
            <a:pPr marL="0" indent="0">
              <a:buNone/>
            </a:pPr>
            <a:r>
              <a:rPr lang="en-US" sz="1100" b="1" kern="0" spc="100" dirty="0">
                <a:solidFill>
                  <a:srgbClr val="5B6785"/>
                </a:solidFill>
                <a:latin typeface="Calibri" pitchFamily="34" charset="0"/>
                <a:ea typeface="Calibri" pitchFamily="34" charset="-122"/>
                <a:cs typeface="Calibri" pitchFamily="34" charset="-120"/>
              </a:rPr>
              <a:t>RATING ↔ REPEAT CORRELATION</a:t>
            </a:r>
            <a:endParaRPr lang="en-US" sz="1100" dirty="0"/>
          </a:p>
        </p:txBody>
      </p:sp>
      <p:sp>
        <p:nvSpPr>
          <p:cNvPr id="7" name="Text 4"/>
          <p:cNvSpPr/>
          <p:nvPr/>
        </p:nvSpPr>
        <p:spPr>
          <a:xfrm>
            <a:off x="8366760" y="1783080"/>
            <a:ext cx="3108960" cy="91440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0.036</a:t>
            </a:r>
            <a:endParaRPr lang="en-US" sz="3400" dirty="0"/>
          </a:p>
        </p:txBody>
      </p:sp>
      <p:sp>
        <p:nvSpPr>
          <p:cNvPr id="8" name="Shape 5"/>
          <p:cNvSpPr/>
          <p:nvPr/>
        </p:nvSpPr>
        <p:spPr>
          <a:xfrm>
            <a:off x="8366760" y="2788920"/>
            <a:ext cx="3108960" cy="0"/>
          </a:xfrm>
          <a:prstGeom prst="line">
            <a:avLst/>
          </a:prstGeom>
          <a:noFill/>
          <a:ln w="25400">
            <a:solidFill>
              <a:srgbClr val="F2A93B"/>
            </a:solidFill>
            <a:prstDash val="solid"/>
          </a:ln>
        </p:spPr>
      </p:sp>
      <p:sp>
        <p:nvSpPr>
          <p:cNvPr id="9" name="Text 6"/>
          <p:cNvSpPr/>
          <p:nvPr/>
        </p:nvSpPr>
        <p:spPr>
          <a:xfrm>
            <a:off x="8366760" y="2971800"/>
            <a:ext cx="3108960" cy="3200400"/>
          </a:xfrm>
          <a:prstGeom prst="rect">
            <a:avLst/>
          </a:prstGeom>
          <a:noFill/>
          <a:ln/>
        </p:spPr>
        <p:txBody>
          <a:bodyPr wrap="square" rtlCol="0" anchor="t"/>
          <a:lstStyle/>
          <a:p>
            <a:pPr marL="0" indent="0">
              <a:lnSpc>
                <a:spcPct val="125000"/>
              </a:lnSpc>
              <a:buNone/>
            </a:pPr>
            <a:r>
              <a:rPr lang="en-US" sz="1250" dirty="0">
                <a:solidFill>
                  <a:srgbClr val="1F2333"/>
                </a:solidFill>
                <a:latin typeface="Calibri" pitchFamily="34" charset="0"/>
                <a:ea typeface="Calibri" pitchFamily="34" charset="-122"/>
                <a:cs typeface="Calibri" pitchFamily="34" charset="-120"/>
              </a:rPr>
              <a:t>The correlation between a customer's average rating and how often they buy is essentially zero. Repeat buyers rate only marginally higher (3.96 vs 3.93). Retention strategies built on “improve ratings to drive loyalty” aren't supported here.</a:t>
            </a:r>
            <a:endParaRPr lang="en-US" sz="1250" dirty="0"/>
          </a:p>
        </p:txBody>
      </p:sp>
      <p:sp>
        <p:nvSpPr>
          <p:cNvPr id="10" name="Text 7"/>
          <p:cNvSpPr/>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5B678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058400" cy="320040"/>
          </a:xfrm>
          <a:prstGeom prst="rect">
            <a:avLst/>
          </a:prstGeom>
          <a:noFill/>
          <a:ln/>
        </p:spPr>
        <p:txBody>
          <a:bodyPr wrap="square" rtlCol="0" anchor="ctr"/>
          <a:lstStyle/>
          <a:p>
            <a:pPr marL="0" indent="0">
              <a:buNone/>
            </a:pPr>
            <a:r>
              <a:rPr lang="en-US" sz="1200" b="1" kern="0" spc="150" dirty="0">
                <a:solidFill>
                  <a:srgbClr val="F2A93B"/>
                </a:solidFill>
                <a:latin typeface="Calibri" pitchFamily="34" charset="0"/>
                <a:ea typeface="Calibri" pitchFamily="34" charset="-122"/>
                <a:cs typeface="Calibri" pitchFamily="34" charset="-120"/>
              </a:rPr>
              <a:t>FINDING 5 OF 8</a:t>
            </a:r>
            <a:endParaRPr lang="en-US" sz="1200" dirty="0"/>
          </a:p>
        </p:txBody>
      </p:sp>
      <p:sp>
        <p:nvSpPr>
          <p:cNvPr id="3" name="Text 1"/>
          <p:cNvSpPr/>
          <p:nvPr/>
        </p:nvSpPr>
        <p:spPr>
          <a:xfrm>
            <a:off x="548640" y="621792"/>
            <a:ext cx="10972800" cy="64008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Tablet + Singapore Converts Best</a:t>
            </a:r>
            <a:endParaRPr lang="en-US" sz="2600" dirty="0"/>
          </a:p>
        </p:txBody>
      </p:sp>
      <p:pic>
        <p:nvPicPr>
          <p:cNvPr id="4" name="Image 0" descr="/home/claude/deck/assets/q5_conversion.png"/>
          <p:cNvPicPr>
            <a:picLocks noChangeAspect="1"/>
          </p:cNvPicPr>
          <p:nvPr/>
        </p:nvPicPr>
        <p:blipFill>
          <a:blip r:embed="rId3"/>
          <a:stretch>
            <a:fillRect/>
          </a:stretch>
        </p:blipFill>
        <p:spPr>
          <a:xfrm>
            <a:off x="502920" y="1737360"/>
            <a:ext cx="7223760" cy="4014216"/>
          </a:xfrm>
          <a:prstGeom prst="rect">
            <a:avLst/>
          </a:prstGeom>
        </p:spPr>
      </p:pic>
      <p:sp>
        <p:nvSpPr>
          <p:cNvPr id="5" name="Shape 2"/>
          <p:cNvSpPr/>
          <p:nvPr/>
        </p:nvSpPr>
        <p:spPr>
          <a:xfrm>
            <a:off x="8092440" y="1234440"/>
            <a:ext cx="3657600" cy="5120640"/>
          </a:xfrm>
          <a:prstGeom prst="rect">
            <a:avLst/>
          </a:prstGeom>
          <a:solidFill>
            <a:srgbClr val="F7F8FC"/>
          </a:solidFill>
          <a:ln/>
        </p:spPr>
      </p:sp>
      <p:sp>
        <p:nvSpPr>
          <p:cNvPr id="6" name="Text 3"/>
          <p:cNvSpPr/>
          <p:nvPr/>
        </p:nvSpPr>
        <p:spPr>
          <a:xfrm>
            <a:off x="8366760" y="1463040"/>
            <a:ext cx="3108960" cy="365760"/>
          </a:xfrm>
          <a:prstGeom prst="rect">
            <a:avLst/>
          </a:prstGeom>
          <a:noFill/>
          <a:ln/>
        </p:spPr>
        <p:txBody>
          <a:bodyPr wrap="square" rtlCol="0" anchor="ctr"/>
          <a:lstStyle/>
          <a:p>
            <a:pPr marL="0" indent="0">
              <a:buNone/>
            </a:pPr>
            <a:r>
              <a:rPr lang="en-US" sz="1100" b="1" kern="0" spc="100" dirty="0">
                <a:solidFill>
                  <a:srgbClr val="5B6785"/>
                </a:solidFill>
                <a:latin typeface="Calibri" pitchFamily="34" charset="0"/>
                <a:ea typeface="Calibri" pitchFamily="34" charset="-122"/>
                <a:cs typeface="Calibri" pitchFamily="34" charset="-120"/>
              </a:rPr>
              <a:t>TOP CONVERSION RATE</a:t>
            </a:r>
            <a:endParaRPr lang="en-US" sz="1100" dirty="0"/>
          </a:p>
        </p:txBody>
      </p:sp>
      <p:sp>
        <p:nvSpPr>
          <p:cNvPr id="7" name="Text 4"/>
          <p:cNvSpPr/>
          <p:nvPr/>
        </p:nvSpPr>
        <p:spPr>
          <a:xfrm>
            <a:off x="8366760" y="1783080"/>
            <a:ext cx="3108960" cy="91440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90.5%</a:t>
            </a:r>
            <a:endParaRPr lang="en-US" sz="3400" dirty="0"/>
          </a:p>
        </p:txBody>
      </p:sp>
      <p:sp>
        <p:nvSpPr>
          <p:cNvPr id="8" name="Shape 5"/>
          <p:cNvSpPr/>
          <p:nvPr/>
        </p:nvSpPr>
        <p:spPr>
          <a:xfrm>
            <a:off x="8366760" y="2788920"/>
            <a:ext cx="3108960" cy="0"/>
          </a:xfrm>
          <a:prstGeom prst="line">
            <a:avLst/>
          </a:prstGeom>
          <a:noFill/>
          <a:ln w="25400">
            <a:solidFill>
              <a:srgbClr val="F2A93B"/>
            </a:solidFill>
            <a:prstDash val="solid"/>
          </a:ln>
        </p:spPr>
      </p:sp>
      <p:sp>
        <p:nvSpPr>
          <p:cNvPr id="9" name="Text 6"/>
          <p:cNvSpPr/>
          <p:nvPr/>
        </p:nvSpPr>
        <p:spPr>
          <a:xfrm>
            <a:off x="8366760" y="2971800"/>
            <a:ext cx="3108960" cy="3200400"/>
          </a:xfrm>
          <a:prstGeom prst="rect">
            <a:avLst/>
          </a:prstGeom>
          <a:noFill/>
          <a:ln/>
        </p:spPr>
        <p:txBody>
          <a:bodyPr wrap="square" rtlCol="0" anchor="t"/>
          <a:lstStyle/>
          <a:p>
            <a:pPr marL="0" indent="0">
              <a:lnSpc>
                <a:spcPct val="125000"/>
              </a:lnSpc>
              <a:buNone/>
            </a:pPr>
            <a:r>
              <a:rPr lang="en-US" sz="1250" dirty="0">
                <a:solidFill>
                  <a:srgbClr val="1F2333"/>
                </a:solidFill>
                <a:latin typeface="Calibri" pitchFamily="34" charset="0"/>
                <a:ea typeface="Calibri" pitchFamily="34" charset="-122"/>
                <a:cs typeface="Calibri" pitchFamily="34" charset="-120"/>
              </a:rPr>
              <a:t>Tablet sessions from Singapore convert at 90.5% — the best of any device×country pairing. The USA, UrbanCart's largest market, converts lower at 87.8%. The biggest market isn't the most efficient one.</a:t>
            </a:r>
            <a:endParaRPr lang="en-US" sz="1250" dirty="0"/>
          </a:p>
        </p:txBody>
      </p:sp>
      <p:sp>
        <p:nvSpPr>
          <p:cNvPr id="10" name="Text 7"/>
          <p:cNvSpPr/>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5B6785"/>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058400" cy="320040"/>
          </a:xfrm>
          <a:prstGeom prst="rect">
            <a:avLst/>
          </a:prstGeom>
          <a:noFill/>
          <a:ln/>
        </p:spPr>
        <p:txBody>
          <a:bodyPr wrap="square" rtlCol="0" anchor="ctr"/>
          <a:lstStyle/>
          <a:p>
            <a:pPr marL="0" indent="0">
              <a:buNone/>
            </a:pPr>
            <a:r>
              <a:rPr lang="en-US" sz="1200" b="1" kern="0" spc="150" dirty="0">
                <a:solidFill>
                  <a:srgbClr val="F2A93B"/>
                </a:solidFill>
                <a:latin typeface="Calibri" pitchFamily="34" charset="0"/>
                <a:ea typeface="Calibri" pitchFamily="34" charset="-122"/>
                <a:cs typeface="Calibri" pitchFamily="34" charset="-120"/>
              </a:rPr>
              <a:t>FINDING 6 OF 8</a:t>
            </a:r>
            <a:endParaRPr lang="en-US" sz="1200" dirty="0"/>
          </a:p>
        </p:txBody>
      </p:sp>
      <p:sp>
        <p:nvSpPr>
          <p:cNvPr id="3" name="Text 1"/>
          <p:cNvSpPr/>
          <p:nvPr/>
        </p:nvSpPr>
        <p:spPr>
          <a:xfrm>
            <a:off x="548640" y="621792"/>
            <a:ext cx="10972800" cy="64008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Revenue Forecast: Next 2 Months</a:t>
            </a:r>
            <a:endParaRPr lang="en-US" sz="2600" dirty="0"/>
          </a:p>
        </p:txBody>
      </p:sp>
      <p:pic>
        <p:nvPicPr>
          <p:cNvPr id="4" name="Image 0" descr="/home/claude/deck/assets/q6_forecast.png"/>
          <p:cNvPicPr>
            <a:picLocks noChangeAspect="1"/>
          </p:cNvPicPr>
          <p:nvPr/>
        </p:nvPicPr>
        <p:blipFill>
          <a:blip r:embed="rId3"/>
          <a:stretch>
            <a:fillRect/>
          </a:stretch>
        </p:blipFill>
        <p:spPr>
          <a:xfrm>
            <a:off x="502920" y="1783080"/>
            <a:ext cx="7223760" cy="3977640"/>
          </a:xfrm>
          <a:prstGeom prst="rect">
            <a:avLst/>
          </a:prstGeom>
        </p:spPr>
      </p:pic>
      <p:sp>
        <p:nvSpPr>
          <p:cNvPr id="5" name="Shape 2"/>
          <p:cNvSpPr/>
          <p:nvPr/>
        </p:nvSpPr>
        <p:spPr>
          <a:xfrm>
            <a:off x="8092440" y="1234440"/>
            <a:ext cx="3657600" cy="5120640"/>
          </a:xfrm>
          <a:prstGeom prst="rect">
            <a:avLst/>
          </a:prstGeom>
          <a:solidFill>
            <a:srgbClr val="F7F8FC"/>
          </a:solidFill>
          <a:ln/>
        </p:spPr>
      </p:sp>
      <p:sp>
        <p:nvSpPr>
          <p:cNvPr id="6" name="Text 3"/>
          <p:cNvSpPr/>
          <p:nvPr/>
        </p:nvSpPr>
        <p:spPr>
          <a:xfrm>
            <a:off x="8366760" y="1463040"/>
            <a:ext cx="3108960" cy="365760"/>
          </a:xfrm>
          <a:prstGeom prst="rect">
            <a:avLst/>
          </a:prstGeom>
          <a:noFill/>
          <a:ln/>
        </p:spPr>
        <p:txBody>
          <a:bodyPr wrap="square" rtlCol="0" anchor="ctr"/>
          <a:lstStyle/>
          <a:p>
            <a:pPr marL="0" indent="0">
              <a:buNone/>
            </a:pPr>
            <a:r>
              <a:rPr lang="en-US" sz="1100" b="1" kern="0" spc="100" dirty="0">
                <a:solidFill>
                  <a:srgbClr val="5B6785"/>
                </a:solidFill>
                <a:latin typeface="Calibri" pitchFamily="34" charset="0"/>
                <a:ea typeface="Calibri" pitchFamily="34" charset="-122"/>
                <a:cs typeface="Calibri" pitchFamily="34" charset="-120"/>
              </a:rPr>
              <a:t>MODEL FIT (R²)</a:t>
            </a:r>
            <a:endParaRPr lang="en-US" sz="1100" dirty="0"/>
          </a:p>
        </p:txBody>
      </p:sp>
      <p:sp>
        <p:nvSpPr>
          <p:cNvPr id="7" name="Text 4"/>
          <p:cNvSpPr/>
          <p:nvPr/>
        </p:nvSpPr>
        <p:spPr>
          <a:xfrm>
            <a:off x="8366760" y="1783080"/>
            <a:ext cx="3108960" cy="91440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0.667</a:t>
            </a:r>
            <a:endParaRPr lang="en-US" sz="3400" dirty="0"/>
          </a:p>
        </p:txBody>
      </p:sp>
      <p:sp>
        <p:nvSpPr>
          <p:cNvPr id="8" name="Shape 5"/>
          <p:cNvSpPr/>
          <p:nvPr/>
        </p:nvSpPr>
        <p:spPr>
          <a:xfrm>
            <a:off x="8366760" y="2788920"/>
            <a:ext cx="3108960" cy="0"/>
          </a:xfrm>
          <a:prstGeom prst="line">
            <a:avLst/>
          </a:prstGeom>
          <a:noFill/>
          <a:ln w="25400">
            <a:solidFill>
              <a:srgbClr val="F2A93B"/>
            </a:solidFill>
            <a:prstDash val="solid"/>
          </a:ln>
        </p:spPr>
      </p:sp>
      <p:sp>
        <p:nvSpPr>
          <p:cNvPr id="9" name="Text 6"/>
          <p:cNvSpPr/>
          <p:nvPr/>
        </p:nvSpPr>
        <p:spPr>
          <a:xfrm>
            <a:off x="8366760" y="2971800"/>
            <a:ext cx="3108960" cy="3200400"/>
          </a:xfrm>
          <a:prstGeom prst="rect">
            <a:avLst/>
          </a:prstGeom>
          <a:noFill/>
          <a:ln/>
        </p:spPr>
        <p:txBody>
          <a:bodyPr wrap="square" rtlCol="0" anchor="t"/>
          <a:lstStyle/>
          <a:p>
            <a:pPr marL="0" indent="0">
              <a:lnSpc>
                <a:spcPct val="125000"/>
              </a:lnSpc>
              <a:buNone/>
            </a:pPr>
            <a:r>
              <a:rPr lang="en-US" sz="1250" dirty="0">
                <a:solidFill>
                  <a:srgbClr val="1F2333"/>
                </a:solidFill>
                <a:latin typeface="Calibri" pitchFamily="34" charset="0"/>
                <a:ea typeface="Calibri" pitchFamily="34" charset="-122"/>
                <a:cs typeface="Calibri" pitchFamily="34" charset="-120"/>
              </a:rPr>
              <a:t>The linear trend explains two-thirds of month-to-month variation. Next 2 months are projected at $343,660 and $350,871, with a wide 95% interval ($231K–$456K) — a reasonable floor estimate given known seasonality.</a:t>
            </a:r>
            <a:endParaRPr lang="en-US" sz="1250" dirty="0"/>
          </a:p>
        </p:txBody>
      </p:sp>
      <p:sp>
        <p:nvSpPr>
          <p:cNvPr id="10" name="Text 7"/>
          <p:cNvSpPr/>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5B6785"/>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058400" cy="320040"/>
          </a:xfrm>
          <a:prstGeom prst="rect">
            <a:avLst/>
          </a:prstGeom>
          <a:noFill/>
          <a:ln/>
        </p:spPr>
        <p:txBody>
          <a:bodyPr wrap="square" rtlCol="0" anchor="ctr"/>
          <a:lstStyle/>
          <a:p>
            <a:pPr marL="0" indent="0">
              <a:buNone/>
            </a:pPr>
            <a:r>
              <a:rPr lang="en-US" sz="1200" b="1" kern="0" spc="150" dirty="0">
                <a:solidFill>
                  <a:srgbClr val="F2A93B"/>
                </a:solidFill>
                <a:latin typeface="Calibri" pitchFamily="34" charset="0"/>
                <a:ea typeface="Calibri" pitchFamily="34" charset="-122"/>
                <a:cs typeface="Calibri" pitchFamily="34" charset="-120"/>
              </a:rPr>
              <a:t>FINDING 7 OF 8</a:t>
            </a:r>
            <a:endParaRPr lang="en-US" sz="1200" dirty="0"/>
          </a:p>
        </p:txBody>
      </p:sp>
      <p:sp>
        <p:nvSpPr>
          <p:cNvPr id="3" name="Text 1"/>
          <p:cNvSpPr/>
          <p:nvPr/>
        </p:nvSpPr>
        <p:spPr>
          <a:xfrm>
            <a:off x="548640" y="621792"/>
            <a:ext cx="10972800" cy="64008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Top Stockout Risk: Zero Stock</a:t>
            </a:r>
            <a:endParaRPr lang="en-US" sz="2600" dirty="0"/>
          </a:p>
        </p:txBody>
      </p:sp>
      <p:pic>
        <p:nvPicPr>
          <p:cNvPr id="4" name="Image 0" descr="/home/claude/deck/assets/q7_stockout.png"/>
          <p:cNvPicPr>
            <a:picLocks noChangeAspect="1"/>
          </p:cNvPicPr>
          <p:nvPr/>
        </p:nvPicPr>
        <p:blipFill>
          <a:blip r:embed="rId3"/>
          <a:stretch>
            <a:fillRect/>
          </a:stretch>
        </p:blipFill>
        <p:spPr>
          <a:xfrm>
            <a:off x="502920" y="1737360"/>
            <a:ext cx="7223760" cy="4014216"/>
          </a:xfrm>
          <a:prstGeom prst="rect">
            <a:avLst/>
          </a:prstGeom>
        </p:spPr>
      </p:pic>
      <p:sp>
        <p:nvSpPr>
          <p:cNvPr id="5" name="Shape 2"/>
          <p:cNvSpPr/>
          <p:nvPr/>
        </p:nvSpPr>
        <p:spPr>
          <a:xfrm>
            <a:off x="8092440" y="1234440"/>
            <a:ext cx="3657600" cy="5120640"/>
          </a:xfrm>
          <a:prstGeom prst="rect">
            <a:avLst/>
          </a:prstGeom>
          <a:solidFill>
            <a:srgbClr val="F7F8FC"/>
          </a:solidFill>
          <a:ln/>
        </p:spPr>
      </p:sp>
      <p:sp>
        <p:nvSpPr>
          <p:cNvPr id="6" name="Text 3"/>
          <p:cNvSpPr/>
          <p:nvPr/>
        </p:nvSpPr>
        <p:spPr>
          <a:xfrm>
            <a:off x="8366760" y="1463040"/>
            <a:ext cx="3108960" cy="365760"/>
          </a:xfrm>
          <a:prstGeom prst="rect">
            <a:avLst/>
          </a:prstGeom>
          <a:noFill/>
          <a:ln/>
        </p:spPr>
        <p:txBody>
          <a:bodyPr wrap="square" rtlCol="0" anchor="ctr"/>
          <a:lstStyle/>
          <a:p>
            <a:pPr marL="0" indent="0">
              <a:buNone/>
            </a:pPr>
            <a:r>
              <a:rPr lang="en-US" sz="1100" b="1" kern="0" spc="100" dirty="0">
                <a:solidFill>
                  <a:srgbClr val="5B6785"/>
                </a:solidFill>
                <a:latin typeface="Calibri" pitchFamily="34" charset="0"/>
                <a:ea typeface="Calibri" pitchFamily="34" charset="-122"/>
                <a:cs typeface="Calibri" pitchFamily="34" charset="-120"/>
              </a:rPr>
              <a:t>“THOSE NON-FICTION” STOCKOUT PROB.</a:t>
            </a:r>
            <a:endParaRPr lang="en-US" sz="1100" dirty="0"/>
          </a:p>
        </p:txBody>
      </p:sp>
      <p:sp>
        <p:nvSpPr>
          <p:cNvPr id="7" name="Text 4"/>
          <p:cNvSpPr/>
          <p:nvPr/>
        </p:nvSpPr>
        <p:spPr>
          <a:xfrm>
            <a:off x="8366760" y="1783080"/>
            <a:ext cx="3108960" cy="91440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96.5%</a:t>
            </a:r>
            <a:endParaRPr lang="en-US" sz="3400" dirty="0"/>
          </a:p>
        </p:txBody>
      </p:sp>
      <p:sp>
        <p:nvSpPr>
          <p:cNvPr id="8" name="Shape 5"/>
          <p:cNvSpPr/>
          <p:nvPr/>
        </p:nvSpPr>
        <p:spPr>
          <a:xfrm>
            <a:off x="8366760" y="2788920"/>
            <a:ext cx="3108960" cy="0"/>
          </a:xfrm>
          <a:prstGeom prst="line">
            <a:avLst/>
          </a:prstGeom>
          <a:noFill/>
          <a:ln w="25400">
            <a:solidFill>
              <a:srgbClr val="F2A93B"/>
            </a:solidFill>
            <a:prstDash val="solid"/>
          </a:ln>
        </p:spPr>
      </p:sp>
      <p:sp>
        <p:nvSpPr>
          <p:cNvPr id="9" name="Text 6"/>
          <p:cNvSpPr/>
          <p:nvPr/>
        </p:nvSpPr>
        <p:spPr>
          <a:xfrm>
            <a:off x="8366760" y="2971800"/>
            <a:ext cx="3108960" cy="3200400"/>
          </a:xfrm>
          <a:prstGeom prst="rect">
            <a:avLst/>
          </a:prstGeom>
          <a:noFill/>
          <a:ln/>
        </p:spPr>
        <p:txBody>
          <a:bodyPr wrap="square" rtlCol="0" anchor="t"/>
          <a:lstStyle/>
          <a:p>
            <a:pPr marL="0" indent="0">
              <a:lnSpc>
                <a:spcPct val="125000"/>
              </a:lnSpc>
              <a:buNone/>
            </a:pPr>
            <a:r>
              <a:rPr lang="en-US" sz="1250" dirty="0">
                <a:solidFill>
                  <a:srgbClr val="1F2333"/>
                </a:solidFill>
                <a:latin typeface="Calibri" pitchFamily="34" charset="0"/>
                <a:ea typeface="Calibri" pitchFamily="34" charset="-122"/>
                <a:cs typeface="Calibri" pitchFamily="34" charset="-120"/>
              </a:rPr>
              <a:t>This Books &amp; Media product currently holds zero units of stock against historical demand of ~1.9 units/month. This is an immediate, actionable gap — not a forecasting nuance. Recommended reorder point: ~4 units.</a:t>
            </a:r>
            <a:endParaRPr lang="en-US" sz="1250" dirty="0"/>
          </a:p>
        </p:txBody>
      </p:sp>
      <p:sp>
        <p:nvSpPr>
          <p:cNvPr id="10" name="Text 7"/>
          <p:cNvSpPr/>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5B6785"/>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058400" cy="320040"/>
          </a:xfrm>
          <a:prstGeom prst="rect">
            <a:avLst/>
          </a:prstGeom>
          <a:noFill/>
          <a:ln/>
        </p:spPr>
        <p:txBody>
          <a:bodyPr wrap="square" rtlCol="0" anchor="ctr"/>
          <a:lstStyle/>
          <a:p>
            <a:pPr marL="0" indent="0">
              <a:buNone/>
            </a:pPr>
            <a:r>
              <a:rPr lang="en-US" sz="1200" b="1" kern="0" spc="150" dirty="0">
                <a:solidFill>
                  <a:srgbClr val="F2A93B"/>
                </a:solidFill>
                <a:latin typeface="Calibri" pitchFamily="34" charset="0"/>
                <a:ea typeface="Calibri" pitchFamily="34" charset="-122"/>
                <a:cs typeface="Calibri" pitchFamily="34" charset="-120"/>
              </a:rPr>
              <a:t>FINDING 8 OF 8</a:t>
            </a:r>
            <a:endParaRPr lang="en-US" sz="1200" dirty="0"/>
          </a:p>
        </p:txBody>
      </p:sp>
      <p:sp>
        <p:nvSpPr>
          <p:cNvPr id="3" name="Text 1"/>
          <p:cNvSpPr/>
          <p:nvPr/>
        </p:nvSpPr>
        <p:spPr>
          <a:xfrm>
            <a:off x="548640" y="621792"/>
            <a:ext cx="10972800" cy="64008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A 71% Revenue Overstatement</a:t>
            </a:r>
            <a:endParaRPr lang="en-US" sz="2600" dirty="0"/>
          </a:p>
        </p:txBody>
      </p:sp>
      <p:pic>
        <p:nvPicPr>
          <p:cNvPr id="4" name="Image 0" descr="/home/claude/deck/assets/q8_dataquality.png"/>
          <p:cNvPicPr>
            <a:picLocks noChangeAspect="1"/>
          </p:cNvPicPr>
          <p:nvPr/>
        </p:nvPicPr>
        <p:blipFill>
          <a:blip r:embed="rId3"/>
          <a:stretch>
            <a:fillRect/>
          </a:stretch>
        </p:blipFill>
        <p:spPr>
          <a:xfrm>
            <a:off x="960120" y="1600200"/>
            <a:ext cx="5394960" cy="4517136"/>
          </a:xfrm>
          <a:prstGeom prst="rect">
            <a:avLst/>
          </a:prstGeom>
        </p:spPr>
      </p:pic>
      <p:sp>
        <p:nvSpPr>
          <p:cNvPr id="5" name="Shape 2"/>
          <p:cNvSpPr/>
          <p:nvPr/>
        </p:nvSpPr>
        <p:spPr>
          <a:xfrm>
            <a:off x="8092440" y="1234440"/>
            <a:ext cx="3657600" cy="5120640"/>
          </a:xfrm>
          <a:prstGeom prst="rect">
            <a:avLst/>
          </a:prstGeom>
          <a:solidFill>
            <a:srgbClr val="F7F8FC"/>
          </a:solidFill>
          <a:ln/>
        </p:spPr>
      </p:sp>
      <p:sp>
        <p:nvSpPr>
          <p:cNvPr id="6" name="Text 3"/>
          <p:cNvSpPr/>
          <p:nvPr/>
        </p:nvSpPr>
        <p:spPr>
          <a:xfrm>
            <a:off x="8366760" y="1463040"/>
            <a:ext cx="3108960" cy="365760"/>
          </a:xfrm>
          <a:prstGeom prst="rect">
            <a:avLst/>
          </a:prstGeom>
          <a:noFill/>
          <a:ln/>
        </p:spPr>
        <p:txBody>
          <a:bodyPr wrap="square" rtlCol="0" anchor="ctr"/>
          <a:lstStyle/>
          <a:p>
            <a:pPr marL="0" indent="0">
              <a:buNone/>
            </a:pPr>
            <a:r>
              <a:rPr lang="en-US" sz="1100" b="1" kern="0" spc="100" dirty="0">
                <a:solidFill>
                  <a:srgbClr val="5B6785"/>
                </a:solidFill>
                <a:latin typeface="Calibri" pitchFamily="34" charset="0"/>
                <a:ea typeface="Calibri" pitchFamily="34" charset="-122"/>
                <a:cs typeface="Calibri" pitchFamily="34" charset="-120"/>
              </a:rPr>
              <a:t>OVERSTATEMENT IF UNCLEANED</a:t>
            </a:r>
            <a:endParaRPr lang="en-US" sz="1100" dirty="0"/>
          </a:p>
        </p:txBody>
      </p:sp>
      <p:sp>
        <p:nvSpPr>
          <p:cNvPr id="7" name="Text 4"/>
          <p:cNvSpPr/>
          <p:nvPr/>
        </p:nvSpPr>
        <p:spPr>
          <a:xfrm>
            <a:off x="8366760" y="1783080"/>
            <a:ext cx="3108960" cy="91440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71.3%</a:t>
            </a:r>
            <a:endParaRPr lang="en-US" sz="3400" dirty="0"/>
          </a:p>
        </p:txBody>
      </p:sp>
      <p:sp>
        <p:nvSpPr>
          <p:cNvPr id="8" name="Shape 5"/>
          <p:cNvSpPr/>
          <p:nvPr/>
        </p:nvSpPr>
        <p:spPr>
          <a:xfrm>
            <a:off x="8366760" y="2788920"/>
            <a:ext cx="3108960" cy="0"/>
          </a:xfrm>
          <a:prstGeom prst="line">
            <a:avLst/>
          </a:prstGeom>
          <a:noFill/>
          <a:ln w="25400">
            <a:solidFill>
              <a:srgbClr val="F2A93B"/>
            </a:solidFill>
            <a:prstDash val="solid"/>
          </a:ln>
        </p:spPr>
      </p:sp>
      <p:sp>
        <p:nvSpPr>
          <p:cNvPr id="9" name="Text 6"/>
          <p:cNvSpPr/>
          <p:nvPr/>
        </p:nvSpPr>
        <p:spPr>
          <a:xfrm>
            <a:off x="8366760" y="2971800"/>
            <a:ext cx="3108960" cy="3200400"/>
          </a:xfrm>
          <a:prstGeom prst="rect">
            <a:avLst/>
          </a:prstGeom>
          <a:noFill/>
          <a:ln/>
        </p:spPr>
        <p:txBody>
          <a:bodyPr wrap="square" rtlCol="0" anchor="t"/>
          <a:lstStyle/>
          <a:p>
            <a:pPr marL="0" indent="0">
              <a:lnSpc>
                <a:spcPct val="125000"/>
              </a:lnSpc>
              <a:buNone/>
            </a:pPr>
            <a:r>
              <a:rPr lang="en-US" sz="1250" dirty="0">
                <a:solidFill>
                  <a:srgbClr val="1F2333"/>
                </a:solidFill>
                <a:latin typeface="Calibri" pitchFamily="34" charset="0"/>
                <a:ea typeface="Calibri" pitchFamily="34" charset="-122"/>
                <a:cs typeface="Calibri" pitchFamily="34" charset="-120"/>
              </a:rPr>
              <a:t>Counting cancelled, returned, and pending orders as real sales overstates revenue by 71% ($12.97M vs. the real $7.57M). 43% of all orders never completed. Any past decision built on raw order totals was likely built on nearly double the truth.</a:t>
            </a:r>
            <a:endParaRPr lang="en-US" sz="1250" dirty="0"/>
          </a:p>
        </p:txBody>
      </p:sp>
      <p:sp>
        <p:nvSpPr>
          <p:cNvPr id="10" name="Text 7"/>
          <p:cNvSpPr/>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5B6785"/>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058400" cy="320040"/>
          </a:xfrm>
          <a:prstGeom prst="rect">
            <a:avLst/>
          </a:prstGeom>
          <a:noFill/>
          <a:ln/>
        </p:spPr>
        <p:txBody>
          <a:bodyPr wrap="square" rtlCol="0" anchor="ctr"/>
          <a:lstStyle/>
          <a:p>
            <a:pPr marL="0" indent="0">
              <a:buNone/>
            </a:pPr>
            <a:r>
              <a:rPr lang="en-US" sz="1200" b="1" kern="0" spc="150" dirty="0">
                <a:solidFill>
                  <a:srgbClr val="F2A93B"/>
                </a:solidFill>
                <a:latin typeface="Calibri" pitchFamily="34" charset="0"/>
                <a:ea typeface="Calibri" pitchFamily="34" charset="-122"/>
                <a:cs typeface="Calibri" pitchFamily="34" charset="-120"/>
              </a:rPr>
              <a:t>RECOMMENDATIONS</a:t>
            </a:r>
            <a:endParaRPr lang="en-US" sz="1200" dirty="0"/>
          </a:p>
        </p:txBody>
      </p:sp>
      <p:sp>
        <p:nvSpPr>
          <p:cNvPr id="3" name="Text 1"/>
          <p:cNvSpPr/>
          <p:nvPr/>
        </p:nvSpPr>
        <p:spPr>
          <a:xfrm>
            <a:off x="548640" y="621792"/>
            <a:ext cx="10972800" cy="64008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What UrbanCart Should Do Next</a:t>
            </a:r>
            <a:endParaRPr lang="en-US" sz="2600" dirty="0"/>
          </a:p>
        </p:txBody>
      </p:sp>
      <p:sp>
        <p:nvSpPr>
          <p:cNvPr id="4" name="Shape 2"/>
          <p:cNvSpPr/>
          <p:nvPr/>
        </p:nvSpPr>
        <p:spPr>
          <a:xfrm>
            <a:off x="548640" y="1554480"/>
            <a:ext cx="548640" cy="548640"/>
          </a:xfrm>
          <a:prstGeom prst="ellipse">
            <a:avLst/>
          </a:prstGeom>
          <a:solidFill>
            <a:srgbClr val="F2A93B"/>
          </a:solidFill>
          <a:ln/>
        </p:spPr>
      </p:sp>
      <p:sp>
        <p:nvSpPr>
          <p:cNvPr id="5" name="Text 3"/>
          <p:cNvSpPr/>
          <p:nvPr/>
        </p:nvSpPr>
        <p:spPr>
          <a:xfrm>
            <a:off x="548640" y="1554480"/>
            <a:ext cx="548640" cy="54864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371600" y="1490472"/>
            <a:ext cx="4023360" cy="685800"/>
          </a:xfrm>
          <a:prstGeom prst="rect">
            <a:avLst/>
          </a:prstGeom>
          <a:noFill/>
          <a:ln/>
        </p:spPr>
        <p:txBody>
          <a:bodyPr wrap="square" lIns="0" tIns="0" rIns="0" bIns="0" rtlCol="0" anchor="ctr"/>
          <a:lstStyle/>
          <a:p>
            <a:pPr marL="0" indent="0">
              <a:lnSpc>
                <a:spcPct val="110000"/>
              </a:lnSpc>
              <a:buNone/>
            </a:pPr>
            <a:r>
              <a:rPr lang="en-US" sz="1500" b="1" dirty="0">
                <a:solidFill>
                  <a:srgbClr val="1E2761"/>
                </a:solidFill>
                <a:latin typeface="Cambria" pitchFamily="34" charset="0"/>
                <a:ea typeface="Cambria" pitchFamily="34" charset="-122"/>
                <a:cs typeface="Cambria" pitchFamily="34" charset="-120"/>
              </a:rPr>
              <a:t>Fix revenue reporting now</a:t>
            </a:r>
            <a:endParaRPr lang="en-US" sz="1500" dirty="0"/>
          </a:p>
        </p:txBody>
      </p:sp>
      <p:sp>
        <p:nvSpPr>
          <p:cNvPr id="7" name="Text 5"/>
          <p:cNvSpPr/>
          <p:nvPr/>
        </p:nvSpPr>
        <p:spPr>
          <a:xfrm>
            <a:off x="5532120" y="1490472"/>
            <a:ext cx="6126480" cy="685800"/>
          </a:xfrm>
          <a:prstGeom prst="rect">
            <a:avLst/>
          </a:prstGeom>
          <a:noFill/>
          <a:ln/>
        </p:spPr>
        <p:txBody>
          <a:bodyPr wrap="square" lIns="0" tIns="0" rIns="0" bIns="0" rtlCol="0" anchor="ctr"/>
          <a:lstStyle/>
          <a:p>
            <a:pPr marL="0" indent="0">
              <a:lnSpc>
                <a:spcPct val="115000"/>
              </a:lnSpc>
              <a:buNone/>
            </a:pPr>
            <a:r>
              <a:rPr lang="en-US" sz="1250" dirty="0">
                <a:solidFill>
                  <a:srgbClr val="1F2333"/>
                </a:solidFill>
                <a:latin typeface="Calibri" pitchFamily="34" charset="0"/>
                <a:ea typeface="Calibri" pitchFamily="34" charset="-122"/>
                <a:cs typeface="Calibri" pitchFamily="34" charset="-120"/>
              </a:rPr>
              <a:t>Filter every report to completed orders only — corrects the 71% overstatement immediately.</a:t>
            </a:r>
            <a:endParaRPr lang="en-US" sz="1250" dirty="0"/>
          </a:p>
        </p:txBody>
      </p:sp>
      <p:sp>
        <p:nvSpPr>
          <p:cNvPr id="8" name="Shape 6"/>
          <p:cNvSpPr/>
          <p:nvPr/>
        </p:nvSpPr>
        <p:spPr>
          <a:xfrm>
            <a:off x="548640" y="2487168"/>
            <a:ext cx="548640" cy="548640"/>
          </a:xfrm>
          <a:prstGeom prst="ellipse">
            <a:avLst/>
          </a:prstGeom>
          <a:solidFill>
            <a:srgbClr val="F2A93B"/>
          </a:solidFill>
          <a:ln/>
        </p:spPr>
      </p:sp>
      <p:sp>
        <p:nvSpPr>
          <p:cNvPr id="9" name="Text 7"/>
          <p:cNvSpPr/>
          <p:nvPr/>
        </p:nvSpPr>
        <p:spPr>
          <a:xfrm>
            <a:off x="548640" y="2487168"/>
            <a:ext cx="548640" cy="54864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371600" y="2423160"/>
            <a:ext cx="4023360" cy="685800"/>
          </a:xfrm>
          <a:prstGeom prst="rect">
            <a:avLst/>
          </a:prstGeom>
          <a:noFill/>
          <a:ln/>
        </p:spPr>
        <p:txBody>
          <a:bodyPr wrap="square" lIns="0" tIns="0" rIns="0" bIns="0" rtlCol="0" anchor="ctr"/>
          <a:lstStyle/>
          <a:p>
            <a:pPr marL="0" indent="0">
              <a:lnSpc>
                <a:spcPct val="110000"/>
              </a:lnSpc>
              <a:buNone/>
            </a:pPr>
            <a:r>
              <a:rPr lang="en-US" sz="1500" b="1" dirty="0">
                <a:solidFill>
                  <a:srgbClr val="1E2761"/>
                </a:solidFill>
                <a:latin typeface="Cambria" pitchFamily="34" charset="0"/>
                <a:ea typeface="Cambria" pitchFamily="34" charset="-122"/>
                <a:cs typeface="Cambria" pitchFamily="34" charset="-120"/>
              </a:rPr>
              <a:t>Reorder “Those Non-Fiction”</a:t>
            </a:r>
            <a:endParaRPr lang="en-US" sz="1500" dirty="0"/>
          </a:p>
        </p:txBody>
      </p:sp>
      <p:sp>
        <p:nvSpPr>
          <p:cNvPr id="11" name="Text 9"/>
          <p:cNvSpPr/>
          <p:nvPr/>
        </p:nvSpPr>
        <p:spPr>
          <a:xfrm>
            <a:off x="5532120" y="2423160"/>
            <a:ext cx="6126480" cy="685800"/>
          </a:xfrm>
          <a:prstGeom prst="rect">
            <a:avLst/>
          </a:prstGeom>
          <a:noFill/>
          <a:ln/>
        </p:spPr>
        <p:txBody>
          <a:bodyPr wrap="square" lIns="0" tIns="0" rIns="0" bIns="0" rtlCol="0" anchor="ctr"/>
          <a:lstStyle/>
          <a:p>
            <a:pPr marL="0" indent="0">
              <a:lnSpc>
                <a:spcPct val="115000"/>
              </a:lnSpc>
              <a:buNone/>
            </a:pPr>
            <a:r>
              <a:rPr lang="en-US" sz="1250" dirty="0">
                <a:solidFill>
                  <a:srgbClr val="1F2333"/>
                </a:solidFill>
                <a:latin typeface="Calibri" pitchFamily="34" charset="0"/>
                <a:ea typeface="Calibri" pitchFamily="34" charset="-122"/>
                <a:cs typeface="Calibri" pitchFamily="34" charset="-120"/>
              </a:rPr>
              <a:t>Zero stock against a 96.5% stockout probability. Not a forecast — an active gap.</a:t>
            </a:r>
            <a:endParaRPr lang="en-US" sz="1250" dirty="0"/>
          </a:p>
        </p:txBody>
      </p:sp>
      <p:sp>
        <p:nvSpPr>
          <p:cNvPr id="12" name="Shape 10"/>
          <p:cNvSpPr/>
          <p:nvPr/>
        </p:nvSpPr>
        <p:spPr>
          <a:xfrm>
            <a:off x="548640" y="3419856"/>
            <a:ext cx="548640" cy="548640"/>
          </a:xfrm>
          <a:prstGeom prst="ellipse">
            <a:avLst/>
          </a:prstGeom>
          <a:solidFill>
            <a:srgbClr val="F2A93B"/>
          </a:solidFill>
          <a:ln/>
        </p:spPr>
      </p:sp>
      <p:sp>
        <p:nvSpPr>
          <p:cNvPr id="13" name="Text 11"/>
          <p:cNvSpPr/>
          <p:nvPr/>
        </p:nvSpPr>
        <p:spPr>
          <a:xfrm>
            <a:off x="548640" y="3419856"/>
            <a:ext cx="548640" cy="54864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1371600" y="3355848"/>
            <a:ext cx="4023360" cy="685800"/>
          </a:xfrm>
          <a:prstGeom prst="rect">
            <a:avLst/>
          </a:prstGeom>
          <a:noFill/>
          <a:ln/>
        </p:spPr>
        <p:txBody>
          <a:bodyPr wrap="square" lIns="0" tIns="0" rIns="0" bIns="0" rtlCol="0" anchor="ctr"/>
          <a:lstStyle/>
          <a:p>
            <a:pPr marL="0" indent="0">
              <a:lnSpc>
                <a:spcPct val="110000"/>
              </a:lnSpc>
              <a:buNone/>
            </a:pPr>
            <a:r>
              <a:rPr lang="en-US" sz="1500" b="1" dirty="0">
                <a:solidFill>
                  <a:srgbClr val="1E2761"/>
                </a:solidFill>
                <a:latin typeface="Cambria" pitchFamily="34" charset="0"/>
                <a:ea typeface="Cambria" pitchFamily="34" charset="-122"/>
                <a:cs typeface="Cambria" pitchFamily="34" charset="-120"/>
              </a:rPr>
              <a:t>Build retention around Champions</a:t>
            </a:r>
            <a:endParaRPr lang="en-US" sz="1500" dirty="0"/>
          </a:p>
        </p:txBody>
      </p:sp>
      <p:sp>
        <p:nvSpPr>
          <p:cNvPr id="15" name="Text 13"/>
          <p:cNvSpPr/>
          <p:nvPr/>
        </p:nvSpPr>
        <p:spPr>
          <a:xfrm>
            <a:off x="5532120" y="3355848"/>
            <a:ext cx="6126480" cy="685800"/>
          </a:xfrm>
          <a:prstGeom prst="rect">
            <a:avLst/>
          </a:prstGeom>
          <a:noFill/>
          <a:ln/>
        </p:spPr>
        <p:txBody>
          <a:bodyPr wrap="square" lIns="0" tIns="0" rIns="0" bIns="0" rtlCol="0" anchor="ctr"/>
          <a:lstStyle/>
          <a:p>
            <a:pPr marL="0" indent="0">
              <a:lnSpc>
                <a:spcPct val="115000"/>
              </a:lnSpc>
              <a:buNone/>
            </a:pPr>
            <a:r>
              <a:rPr lang="en-US" sz="1250" dirty="0">
                <a:solidFill>
                  <a:srgbClr val="1F2333"/>
                </a:solidFill>
                <a:latin typeface="Calibri" pitchFamily="34" charset="0"/>
                <a:ea typeface="Calibri" pitchFamily="34" charset="-122"/>
                <a:cs typeface="Calibri" pitchFamily="34" charset="-120"/>
              </a:rPr>
              <a:t>48% of revenue from 23% of customers, identifiable only by RFM behavior, not demographics.</a:t>
            </a:r>
            <a:endParaRPr lang="en-US" sz="1250" dirty="0"/>
          </a:p>
        </p:txBody>
      </p:sp>
      <p:sp>
        <p:nvSpPr>
          <p:cNvPr id="16" name="Shape 14"/>
          <p:cNvSpPr/>
          <p:nvPr/>
        </p:nvSpPr>
        <p:spPr>
          <a:xfrm>
            <a:off x="548640" y="4352544"/>
            <a:ext cx="548640" cy="548640"/>
          </a:xfrm>
          <a:prstGeom prst="ellipse">
            <a:avLst/>
          </a:prstGeom>
          <a:solidFill>
            <a:srgbClr val="F2A93B"/>
          </a:solidFill>
          <a:ln/>
        </p:spPr>
      </p:sp>
      <p:sp>
        <p:nvSpPr>
          <p:cNvPr id="17" name="Text 15"/>
          <p:cNvSpPr/>
          <p:nvPr/>
        </p:nvSpPr>
        <p:spPr>
          <a:xfrm>
            <a:off x="548640" y="4352544"/>
            <a:ext cx="548640" cy="54864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4</a:t>
            </a:r>
            <a:endParaRPr lang="en-US" sz="2000" dirty="0"/>
          </a:p>
        </p:txBody>
      </p:sp>
      <p:sp>
        <p:nvSpPr>
          <p:cNvPr id="18" name="Text 16"/>
          <p:cNvSpPr/>
          <p:nvPr/>
        </p:nvSpPr>
        <p:spPr>
          <a:xfrm>
            <a:off x="1371600" y="4288536"/>
            <a:ext cx="4023360" cy="685800"/>
          </a:xfrm>
          <a:prstGeom prst="rect">
            <a:avLst/>
          </a:prstGeom>
          <a:noFill/>
          <a:ln/>
        </p:spPr>
        <p:txBody>
          <a:bodyPr wrap="square" lIns="0" tIns="0" rIns="0" bIns="0" rtlCol="0" anchor="ctr"/>
          <a:lstStyle/>
          <a:p>
            <a:pPr marL="0" indent="0">
              <a:lnSpc>
                <a:spcPct val="110000"/>
              </a:lnSpc>
              <a:buNone/>
            </a:pPr>
            <a:r>
              <a:rPr lang="en-US" sz="1500" b="1" dirty="0">
                <a:solidFill>
                  <a:srgbClr val="1E2761"/>
                </a:solidFill>
                <a:latin typeface="Cambria" pitchFamily="34" charset="0"/>
                <a:ea typeface="Cambria" pitchFamily="34" charset="-122"/>
                <a:cs typeface="Cambria" pitchFamily="34" charset="-120"/>
              </a:rPr>
              <a:t>Shift budget toward Q4</a:t>
            </a:r>
            <a:endParaRPr lang="en-US" sz="1500" dirty="0"/>
          </a:p>
        </p:txBody>
      </p:sp>
      <p:sp>
        <p:nvSpPr>
          <p:cNvPr id="19" name="Text 17"/>
          <p:cNvSpPr/>
          <p:nvPr/>
        </p:nvSpPr>
        <p:spPr>
          <a:xfrm>
            <a:off x="5532120" y="4288536"/>
            <a:ext cx="6126480" cy="685800"/>
          </a:xfrm>
          <a:prstGeom prst="rect">
            <a:avLst/>
          </a:prstGeom>
          <a:noFill/>
          <a:ln/>
        </p:spPr>
        <p:txBody>
          <a:bodyPr wrap="square" lIns="0" tIns="0" rIns="0" bIns="0" rtlCol="0" anchor="ctr"/>
          <a:lstStyle/>
          <a:p>
            <a:pPr marL="0" indent="0">
              <a:lnSpc>
                <a:spcPct val="115000"/>
              </a:lnSpc>
              <a:buNone/>
            </a:pPr>
            <a:r>
              <a:rPr lang="en-US" sz="1250" dirty="0">
                <a:solidFill>
                  <a:srgbClr val="1F2333"/>
                </a:solidFill>
                <a:latin typeface="Calibri" pitchFamily="34" charset="0"/>
                <a:ea typeface="Calibri" pitchFamily="34" charset="-122"/>
                <a:cs typeface="Calibri" pitchFamily="34" charset="-120"/>
              </a:rPr>
              <a:t>November outperforms February by ~80%. Stop planning around flat monthly demand.</a:t>
            </a:r>
            <a:endParaRPr lang="en-US" sz="1250" dirty="0"/>
          </a:p>
        </p:txBody>
      </p:sp>
      <p:sp>
        <p:nvSpPr>
          <p:cNvPr id="20" name="Shape 18"/>
          <p:cNvSpPr/>
          <p:nvPr/>
        </p:nvSpPr>
        <p:spPr>
          <a:xfrm>
            <a:off x="548640" y="5285232"/>
            <a:ext cx="548640" cy="548640"/>
          </a:xfrm>
          <a:prstGeom prst="ellipse">
            <a:avLst/>
          </a:prstGeom>
          <a:solidFill>
            <a:srgbClr val="F2A93B"/>
          </a:solidFill>
          <a:ln/>
        </p:spPr>
      </p:sp>
      <p:sp>
        <p:nvSpPr>
          <p:cNvPr id="21" name="Text 19"/>
          <p:cNvSpPr/>
          <p:nvPr/>
        </p:nvSpPr>
        <p:spPr>
          <a:xfrm>
            <a:off x="548640" y="5285232"/>
            <a:ext cx="548640" cy="54864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5</a:t>
            </a:r>
            <a:endParaRPr lang="en-US" sz="2000" dirty="0"/>
          </a:p>
        </p:txBody>
      </p:sp>
      <p:sp>
        <p:nvSpPr>
          <p:cNvPr id="22" name="Text 20"/>
          <p:cNvSpPr/>
          <p:nvPr/>
        </p:nvSpPr>
        <p:spPr>
          <a:xfrm>
            <a:off x="1371600" y="5221224"/>
            <a:ext cx="4023360" cy="685800"/>
          </a:xfrm>
          <a:prstGeom prst="rect">
            <a:avLst/>
          </a:prstGeom>
          <a:noFill/>
          <a:ln/>
        </p:spPr>
        <p:txBody>
          <a:bodyPr wrap="square" lIns="0" tIns="0" rIns="0" bIns="0" rtlCol="0" anchor="ctr"/>
          <a:lstStyle/>
          <a:p>
            <a:pPr marL="0" indent="0">
              <a:lnSpc>
                <a:spcPct val="110000"/>
              </a:lnSpc>
              <a:buNone/>
            </a:pPr>
            <a:r>
              <a:rPr lang="en-US" sz="1500" b="1" dirty="0">
                <a:solidFill>
                  <a:srgbClr val="1E2761"/>
                </a:solidFill>
                <a:latin typeface="Cambria" pitchFamily="34" charset="0"/>
                <a:ea typeface="Cambria" pitchFamily="34" charset="-122"/>
                <a:cs typeface="Cambria" pitchFamily="34" charset="-120"/>
              </a:rPr>
              <a:t>Re-test rating-based loyalty bets</a:t>
            </a:r>
            <a:endParaRPr lang="en-US" sz="1500" dirty="0"/>
          </a:p>
        </p:txBody>
      </p:sp>
      <p:sp>
        <p:nvSpPr>
          <p:cNvPr id="23" name="Text 21"/>
          <p:cNvSpPr/>
          <p:nvPr/>
        </p:nvSpPr>
        <p:spPr>
          <a:xfrm>
            <a:off x="5532120" y="5221224"/>
            <a:ext cx="6126480" cy="685800"/>
          </a:xfrm>
          <a:prstGeom prst="rect">
            <a:avLst/>
          </a:prstGeom>
          <a:noFill/>
          <a:ln/>
        </p:spPr>
        <p:txBody>
          <a:bodyPr wrap="square" lIns="0" tIns="0" rIns="0" bIns="0" rtlCol="0" anchor="ctr"/>
          <a:lstStyle/>
          <a:p>
            <a:pPr marL="0" indent="0">
              <a:lnSpc>
                <a:spcPct val="115000"/>
              </a:lnSpc>
              <a:buNone/>
            </a:pPr>
            <a:r>
              <a:rPr lang="en-US" sz="1250" dirty="0">
                <a:solidFill>
                  <a:srgbClr val="1F2333"/>
                </a:solidFill>
                <a:latin typeface="Calibri" pitchFamily="34" charset="0"/>
                <a:ea typeface="Calibri" pitchFamily="34" charset="-122"/>
                <a:cs typeface="Calibri" pitchFamily="34" charset="-120"/>
              </a:rPr>
              <a:t>0.036 correlation between rating and repeat purchase — look elsewhere for the real driver.</a:t>
            </a:r>
            <a:endParaRPr lang="en-US" sz="1250" dirty="0"/>
          </a:p>
        </p:txBody>
      </p:sp>
      <p:sp>
        <p:nvSpPr>
          <p:cNvPr id="24" name="Text 22"/>
          <p:cNvSpPr/>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5B6785"/>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058400" cy="320040"/>
          </a:xfrm>
          <a:prstGeom prst="rect">
            <a:avLst/>
          </a:prstGeom>
          <a:noFill/>
          <a:ln/>
        </p:spPr>
        <p:txBody>
          <a:bodyPr wrap="square" rtlCol="0" anchor="ctr"/>
          <a:lstStyle/>
          <a:p>
            <a:pPr marL="0" indent="0">
              <a:buNone/>
            </a:pPr>
            <a:r>
              <a:rPr lang="en-US" sz="1200" b="1" kern="0" spc="150" dirty="0">
                <a:solidFill>
                  <a:srgbClr val="F2A93B"/>
                </a:solidFill>
                <a:latin typeface="Calibri" pitchFamily="34" charset="0"/>
                <a:ea typeface="Calibri" pitchFamily="34" charset="-122"/>
                <a:cs typeface="Calibri" pitchFamily="34" charset="-120"/>
              </a:rPr>
              <a:t>REUSABLE PIPELINE</a:t>
            </a:r>
            <a:endParaRPr lang="en-US" sz="1200" dirty="0"/>
          </a:p>
        </p:txBody>
      </p:sp>
      <p:sp>
        <p:nvSpPr>
          <p:cNvPr id="3" name="Text 1"/>
          <p:cNvSpPr/>
          <p:nvPr/>
        </p:nvSpPr>
        <p:spPr>
          <a:xfrm>
            <a:off x="548640" y="621792"/>
            <a:ext cx="10972800" cy="64008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One Command, Start to Finish</a:t>
            </a:r>
            <a:endParaRPr lang="en-US" sz="2600" dirty="0"/>
          </a:p>
        </p:txBody>
      </p:sp>
      <p:sp>
        <p:nvSpPr>
          <p:cNvPr id="4" name="Text 2"/>
          <p:cNvSpPr/>
          <p:nvPr/>
        </p:nvSpPr>
        <p:spPr>
          <a:xfrm>
            <a:off x="548640" y="1463040"/>
            <a:ext cx="6949440" cy="1188720"/>
          </a:xfrm>
          <a:prstGeom prst="rect">
            <a:avLst/>
          </a:prstGeom>
          <a:noFill/>
          <a:ln/>
        </p:spPr>
        <p:txBody>
          <a:bodyPr wrap="square" rtlCol="0" anchor="ctr"/>
          <a:lstStyle/>
          <a:p>
            <a:pPr marL="0" indent="0">
              <a:lnSpc>
                <a:spcPct val="125000"/>
              </a:lnSpc>
              <a:buNone/>
            </a:pPr>
            <a:r>
              <a:rPr lang="en-US" sz="1450" dirty="0">
                <a:solidFill>
                  <a:srgbClr val="1F2333"/>
                </a:solidFill>
                <a:latin typeface="Calibri" pitchFamily="34" charset="0"/>
                <a:ea typeface="Calibri" pitchFamily="34" charset="-122"/>
                <a:cs typeface="Calibri" pitchFamily="34" charset="-120"/>
              </a:rPr>
              <a:t>Every table, analysis, and chart in this deck can be regenerated from the three raw input files in under 3 seconds — handed off, rerun next quarter, or audited by anyone.</a:t>
            </a:r>
            <a:endParaRPr lang="en-US" sz="1450" dirty="0"/>
          </a:p>
        </p:txBody>
      </p:sp>
      <p:sp>
        <p:nvSpPr>
          <p:cNvPr id="5" name="Shape 3"/>
          <p:cNvSpPr/>
          <p:nvPr/>
        </p:nvSpPr>
        <p:spPr>
          <a:xfrm>
            <a:off x="548640" y="3017520"/>
            <a:ext cx="2514600" cy="2377440"/>
          </a:xfrm>
          <a:prstGeom prst="rect">
            <a:avLst/>
          </a:prstGeom>
          <a:solidFill>
            <a:srgbClr val="1E2761"/>
          </a:solidFill>
          <a:ln/>
        </p:spPr>
      </p:sp>
      <p:sp>
        <p:nvSpPr>
          <p:cNvPr id="6" name="Text 4"/>
          <p:cNvSpPr/>
          <p:nvPr/>
        </p:nvSpPr>
        <p:spPr>
          <a:xfrm>
            <a:off x="731520" y="3200400"/>
            <a:ext cx="2148840" cy="548640"/>
          </a:xfrm>
          <a:prstGeom prst="rect">
            <a:avLst/>
          </a:prstGeom>
          <a:noFill/>
          <a:ln/>
        </p:spPr>
        <p:txBody>
          <a:bodyPr wrap="square" lIns="0" tIns="0" rIns="0" bIns="0" rtlCol="0" anchor="ctr"/>
          <a:lstStyle/>
          <a:p>
            <a:pPr marL="0" indent="0">
              <a:buNone/>
            </a:pPr>
            <a:r>
              <a:rPr lang="en-US" sz="2200" b="1" dirty="0">
                <a:solidFill>
                  <a:srgbClr val="F2A93B"/>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731520" y="3703320"/>
            <a:ext cx="2148840" cy="45720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Extract</a:t>
            </a:r>
            <a:endParaRPr lang="en-US" sz="1600" dirty="0"/>
          </a:p>
        </p:txBody>
      </p:sp>
      <p:sp>
        <p:nvSpPr>
          <p:cNvPr id="8" name="Text 6"/>
          <p:cNvSpPr/>
          <p:nvPr/>
        </p:nvSpPr>
        <p:spPr>
          <a:xfrm>
            <a:off x="731520" y="4206240"/>
            <a:ext cx="2148840" cy="1097280"/>
          </a:xfrm>
          <a:prstGeom prst="rect">
            <a:avLst/>
          </a:prstGeom>
          <a:noFill/>
          <a:ln/>
        </p:spPr>
        <p:txBody>
          <a:bodyPr wrap="square" lIns="0" tIns="0" rIns="0" bIns="0" rtlCol="0" anchor="ctr"/>
          <a:lstStyle/>
          <a:p>
            <a:pPr marL="0" indent="0">
              <a:lnSpc>
                <a:spcPct val="120000"/>
              </a:lnSpc>
              <a:buNone/>
            </a:pPr>
            <a:r>
              <a:rPr lang="en-US" sz="1050" dirty="0">
                <a:solidFill>
                  <a:srgbClr val="CADCFC"/>
                </a:solidFill>
                <a:latin typeface="Calibri" pitchFamily="34" charset="0"/>
                <a:ea typeface="Calibri" pitchFamily="34" charset="-122"/>
                <a:cs typeface="Calibri" pitchFamily="34" charset="-120"/>
              </a:rPr>
              <a:t>Load DB + CSVs, run all 10 SQL queries</a:t>
            </a:r>
            <a:endParaRPr lang="en-US" sz="1050" dirty="0"/>
          </a:p>
        </p:txBody>
      </p:sp>
      <p:sp>
        <p:nvSpPr>
          <p:cNvPr id="9" name="Shape 7"/>
          <p:cNvSpPr/>
          <p:nvPr/>
        </p:nvSpPr>
        <p:spPr>
          <a:xfrm>
            <a:off x="3291840" y="3017520"/>
            <a:ext cx="2514600" cy="2377440"/>
          </a:xfrm>
          <a:prstGeom prst="rect">
            <a:avLst/>
          </a:prstGeom>
          <a:solidFill>
            <a:srgbClr val="2B3872"/>
          </a:solidFill>
          <a:ln/>
        </p:spPr>
      </p:sp>
      <p:sp>
        <p:nvSpPr>
          <p:cNvPr id="10" name="Text 8"/>
          <p:cNvSpPr/>
          <p:nvPr/>
        </p:nvSpPr>
        <p:spPr>
          <a:xfrm>
            <a:off x="3474720" y="3200400"/>
            <a:ext cx="2148840" cy="548640"/>
          </a:xfrm>
          <a:prstGeom prst="rect">
            <a:avLst/>
          </a:prstGeom>
          <a:noFill/>
          <a:ln/>
        </p:spPr>
        <p:txBody>
          <a:bodyPr wrap="square" lIns="0" tIns="0" rIns="0" bIns="0" rtlCol="0" anchor="ctr"/>
          <a:lstStyle/>
          <a:p>
            <a:pPr marL="0" indent="0">
              <a:buNone/>
            </a:pPr>
            <a:r>
              <a:rPr lang="en-US" sz="2200" b="1" dirty="0">
                <a:solidFill>
                  <a:srgbClr val="F2A93B"/>
                </a:solidFill>
                <a:latin typeface="Cambria" pitchFamily="34" charset="0"/>
                <a:ea typeface="Cambria" pitchFamily="34" charset="-122"/>
                <a:cs typeface="Cambria" pitchFamily="34" charset="-120"/>
              </a:rPr>
              <a:t>2</a:t>
            </a:r>
            <a:endParaRPr lang="en-US" sz="2200" dirty="0"/>
          </a:p>
        </p:txBody>
      </p:sp>
      <p:sp>
        <p:nvSpPr>
          <p:cNvPr id="11" name="Text 9"/>
          <p:cNvSpPr/>
          <p:nvPr/>
        </p:nvSpPr>
        <p:spPr>
          <a:xfrm>
            <a:off x="3474720" y="3703320"/>
            <a:ext cx="2148840" cy="45720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Clean</a:t>
            </a:r>
            <a:endParaRPr lang="en-US" sz="1600" dirty="0"/>
          </a:p>
        </p:txBody>
      </p:sp>
      <p:sp>
        <p:nvSpPr>
          <p:cNvPr id="12" name="Text 10"/>
          <p:cNvSpPr/>
          <p:nvPr/>
        </p:nvSpPr>
        <p:spPr>
          <a:xfrm>
            <a:off x="3474720" y="4206240"/>
            <a:ext cx="2148840" cy="1097280"/>
          </a:xfrm>
          <a:prstGeom prst="rect">
            <a:avLst/>
          </a:prstGeom>
          <a:noFill/>
          <a:ln/>
        </p:spPr>
        <p:txBody>
          <a:bodyPr wrap="square" lIns="0" tIns="0" rIns="0" bIns="0" rtlCol="0" anchor="ctr"/>
          <a:lstStyle/>
          <a:p>
            <a:pPr marL="0" indent="0">
              <a:lnSpc>
                <a:spcPct val="120000"/>
              </a:lnSpc>
              <a:buNone/>
            </a:pPr>
            <a:r>
              <a:rPr lang="en-US" sz="1050" dirty="0">
                <a:solidFill>
                  <a:srgbClr val="CADCFC"/>
                </a:solidFill>
                <a:latin typeface="Calibri" pitchFamily="34" charset="0"/>
                <a:ea typeface="Calibri" pitchFamily="34" charset="-122"/>
                <a:cs typeface="Calibri" pitchFamily="34" charset="-120"/>
              </a:rPr>
              <a:t>Dates, dedup, missing values, merges</a:t>
            </a:r>
            <a:endParaRPr lang="en-US" sz="1050" dirty="0"/>
          </a:p>
        </p:txBody>
      </p:sp>
      <p:sp>
        <p:nvSpPr>
          <p:cNvPr id="13" name="Shape 11"/>
          <p:cNvSpPr/>
          <p:nvPr/>
        </p:nvSpPr>
        <p:spPr>
          <a:xfrm>
            <a:off x="6035040" y="3017520"/>
            <a:ext cx="2514600" cy="2377440"/>
          </a:xfrm>
          <a:prstGeom prst="rect">
            <a:avLst/>
          </a:prstGeom>
          <a:solidFill>
            <a:srgbClr val="1E2761"/>
          </a:solidFill>
          <a:ln/>
        </p:spPr>
      </p:sp>
      <p:sp>
        <p:nvSpPr>
          <p:cNvPr id="14" name="Text 12"/>
          <p:cNvSpPr/>
          <p:nvPr/>
        </p:nvSpPr>
        <p:spPr>
          <a:xfrm>
            <a:off x="6217920" y="3200400"/>
            <a:ext cx="2148840" cy="548640"/>
          </a:xfrm>
          <a:prstGeom prst="rect">
            <a:avLst/>
          </a:prstGeom>
          <a:noFill/>
          <a:ln/>
        </p:spPr>
        <p:txBody>
          <a:bodyPr wrap="square" lIns="0" tIns="0" rIns="0" bIns="0" rtlCol="0" anchor="ctr"/>
          <a:lstStyle/>
          <a:p>
            <a:pPr marL="0" indent="0">
              <a:buNone/>
            </a:pPr>
            <a:r>
              <a:rPr lang="en-US" sz="2200" b="1" dirty="0">
                <a:solidFill>
                  <a:srgbClr val="F2A93B"/>
                </a:solidFill>
                <a:latin typeface="Cambria" pitchFamily="34" charset="0"/>
                <a:ea typeface="Cambria" pitchFamily="34" charset="-122"/>
                <a:cs typeface="Cambria" pitchFamily="34" charset="-120"/>
              </a:rPr>
              <a:t>3</a:t>
            </a:r>
            <a:endParaRPr lang="en-US" sz="2200" dirty="0"/>
          </a:p>
        </p:txBody>
      </p:sp>
      <p:sp>
        <p:nvSpPr>
          <p:cNvPr id="15" name="Text 13"/>
          <p:cNvSpPr/>
          <p:nvPr/>
        </p:nvSpPr>
        <p:spPr>
          <a:xfrm>
            <a:off x="6217920" y="3703320"/>
            <a:ext cx="2148840" cy="45720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Analyze</a:t>
            </a:r>
            <a:endParaRPr lang="en-US" sz="1600" dirty="0"/>
          </a:p>
        </p:txBody>
      </p:sp>
      <p:sp>
        <p:nvSpPr>
          <p:cNvPr id="16" name="Text 14"/>
          <p:cNvSpPr/>
          <p:nvPr/>
        </p:nvSpPr>
        <p:spPr>
          <a:xfrm>
            <a:off x="6217920" y="4206240"/>
            <a:ext cx="2148840" cy="1097280"/>
          </a:xfrm>
          <a:prstGeom prst="rect">
            <a:avLst/>
          </a:prstGeom>
          <a:noFill/>
          <a:ln/>
        </p:spPr>
        <p:txBody>
          <a:bodyPr wrap="square" lIns="0" tIns="0" rIns="0" bIns="0" rtlCol="0" anchor="ctr"/>
          <a:lstStyle/>
          <a:p>
            <a:pPr marL="0" indent="0">
              <a:lnSpc>
                <a:spcPct val="120000"/>
              </a:lnSpc>
              <a:buNone/>
            </a:pPr>
            <a:r>
              <a:rPr lang="en-US" sz="1050" dirty="0">
                <a:solidFill>
                  <a:srgbClr val="CADCFC"/>
                </a:solidFill>
                <a:latin typeface="Calibri" pitchFamily="34" charset="0"/>
                <a:ea typeface="Calibri" pitchFamily="34" charset="-122"/>
                <a:cs typeface="Calibri" pitchFamily="34" charset="-120"/>
              </a:rPr>
              <a:t>RFM, similarity, regression, Monte Carlo</a:t>
            </a:r>
            <a:endParaRPr lang="en-US" sz="1050" dirty="0"/>
          </a:p>
        </p:txBody>
      </p:sp>
      <p:sp>
        <p:nvSpPr>
          <p:cNvPr id="17" name="Shape 15"/>
          <p:cNvSpPr/>
          <p:nvPr/>
        </p:nvSpPr>
        <p:spPr>
          <a:xfrm>
            <a:off x="8778240" y="3017520"/>
            <a:ext cx="2514600" cy="2377440"/>
          </a:xfrm>
          <a:prstGeom prst="rect">
            <a:avLst/>
          </a:prstGeom>
          <a:solidFill>
            <a:srgbClr val="2B3872"/>
          </a:solidFill>
          <a:ln/>
        </p:spPr>
      </p:sp>
      <p:sp>
        <p:nvSpPr>
          <p:cNvPr id="18" name="Text 16"/>
          <p:cNvSpPr/>
          <p:nvPr/>
        </p:nvSpPr>
        <p:spPr>
          <a:xfrm>
            <a:off x="8961120" y="3200400"/>
            <a:ext cx="2148840" cy="548640"/>
          </a:xfrm>
          <a:prstGeom prst="rect">
            <a:avLst/>
          </a:prstGeom>
          <a:noFill/>
          <a:ln/>
        </p:spPr>
        <p:txBody>
          <a:bodyPr wrap="square" lIns="0" tIns="0" rIns="0" bIns="0" rtlCol="0" anchor="ctr"/>
          <a:lstStyle/>
          <a:p>
            <a:pPr marL="0" indent="0">
              <a:buNone/>
            </a:pPr>
            <a:r>
              <a:rPr lang="en-US" sz="2200" b="1" dirty="0">
                <a:solidFill>
                  <a:srgbClr val="F2A93B"/>
                </a:solidFill>
                <a:latin typeface="Cambria" pitchFamily="34" charset="0"/>
                <a:ea typeface="Cambria" pitchFamily="34" charset="-122"/>
                <a:cs typeface="Cambria" pitchFamily="34" charset="-120"/>
              </a:rPr>
              <a:t>4</a:t>
            </a:r>
            <a:endParaRPr lang="en-US" sz="2200" dirty="0"/>
          </a:p>
        </p:txBody>
      </p:sp>
      <p:sp>
        <p:nvSpPr>
          <p:cNvPr id="19" name="Text 17"/>
          <p:cNvSpPr/>
          <p:nvPr/>
        </p:nvSpPr>
        <p:spPr>
          <a:xfrm>
            <a:off x="8961120" y="3703320"/>
            <a:ext cx="2148840" cy="45720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Visualize</a:t>
            </a:r>
            <a:endParaRPr lang="en-US" sz="1600" dirty="0"/>
          </a:p>
        </p:txBody>
      </p:sp>
      <p:sp>
        <p:nvSpPr>
          <p:cNvPr id="20" name="Text 18"/>
          <p:cNvSpPr/>
          <p:nvPr/>
        </p:nvSpPr>
        <p:spPr>
          <a:xfrm>
            <a:off x="8961120" y="4206240"/>
            <a:ext cx="2148840" cy="1097280"/>
          </a:xfrm>
          <a:prstGeom prst="rect">
            <a:avLst/>
          </a:prstGeom>
          <a:noFill/>
          <a:ln/>
        </p:spPr>
        <p:txBody>
          <a:bodyPr wrap="square" lIns="0" tIns="0" rIns="0" bIns="0" rtlCol="0" anchor="ctr"/>
          <a:lstStyle/>
          <a:p>
            <a:pPr marL="0" indent="0">
              <a:lnSpc>
                <a:spcPct val="120000"/>
              </a:lnSpc>
              <a:buNone/>
            </a:pPr>
            <a:r>
              <a:rPr lang="en-US" sz="1050" dirty="0">
                <a:solidFill>
                  <a:srgbClr val="CADCFC"/>
                </a:solidFill>
                <a:latin typeface="Calibri" pitchFamily="34" charset="0"/>
                <a:ea typeface="Calibri" pitchFamily="34" charset="-122"/>
                <a:cs typeface="Calibri" pitchFamily="34" charset="-120"/>
              </a:rPr>
              <a:t>8 charts + summary, saved to figures/</a:t>
            </a:r>
            <a:endParaRPr lang="en-US" sz="1050" dirty="0"/>
          </a:p>
        </p:txBody>
      </p:sp>
      <p:sp>
        <p:nvSpPr>
          <p:cNvPr id="21" name="Text 19"/>
          <p:cNvSpPr/>
          <p:nvPr/>
        </p:nvSpPr>
        <p:spPr>
          <a:xfrm>
            <a:off x="548640" y="5715000"/>
            <a:ext cx="5486400" cy="457200"/>
          </a:xfrm>
          <a:prstGeom prst="rect">
            <a:avLst/>
          </a:prstGeom>
          <a:solidFill>
            <a:srgbClr val="F0F0F0"/>
          </a:solidFill>
          <a:ln/>
        </p:spPr>
        <p:txBody>
          <a:bodyPr wrap="square" rtlCol="0" anchor="ctr"/>
          <a:lstStyle/>
          <a:p>
            <a:pPr marL="0" indent="0">
              <a:buNone/>
            </a:pPr>
            <a:r>
              <a:rPr lang="en-US" sz="1500" b="1" dirty="0">
                <a:solidFill>
                  <a:srgbClr val="1E2761"/>
                </a:solidFill>
                <a:latin typeface="Courier New" pitchFamily="34" charset="0"/>
                <a:ea typeface="Courier New" pitchFamily="34" charset="-122"/>
                <a:cs typeface="Courier New" pitchFamily="34" charset="-120"/>
              </a:rPr>
              <a:t>python run_pipeline.py</a:t>
            </a:r>
            <a:endParaRPr lang="en-US" sz="1500" dirty="0"/>
          </a:p>
        </p:txBody>
      </p:sp>
      <p:sp>
        <p:nvSpPr>
          <p:cNvPr id="22" name="Text 20"/>
          <p:cNvSpPr/>
          <p:nvPr/>
        </p:nvSpPr>
        <p:spPr>
          <a:xfrm>
            <a:off x="11612880" y="6492240"/>
            <a:ext cx="457200" cy="274320"/>
          </a:xfrm>
          <a:prstGeom prst="rect">
            <a:avLst/>
          </a:prstGeom>
          <a:noFill/>
          <a:ln/>
        </p:spPr>
        <p:txBody>
          <a:bodyPr wrap="square" rtlCol="0" anchor="ctr"/>
          <a:lstStyle/>
          <a:p>
            <a:pPr marL="0" indent="0" algn="r">
              <a:buNone/>
            </a:pPr>
            <a:r>
              <a:rPr lang="en-US" sz="1000" dirty="0">
                <a:solidFill>
                  <a:srgbClr val="5B6785"/>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sp>
      <p:sp>
        <p:nvSpPr>
          <p:cNvPr id="3" name="Text 1"/>
          <p:cNvSpPr/>
          <p:nvPr/>
        </p:nvSpPr>
        <p:spPr>
          <a:xfrm>
            <a:off x="822960" y="2148840"/>
            <a:ext cx="10058400" cy="365760"/>
          </a:xfrm>
          <a:prstGeom prst="rect">
            <a:avLst/>
          </a:prstGeom>
          <a:noFill/>
          <a:ln/>
        </p:spPr>
        <p:txBody>
          <a:bodyPr wrap="square" rtlCol="0" anchor="ctr"/>
          <a:lstStyle/>
          <a:p>
            <a:pPr marL="0" indent="0">
              <a:buNone/>
            </a:pPr>
            <a:r>
              <a:rPr lang="en-US" sz="1400" b="1" kern="0" spc="200" dirty="0">
                <a:solidFill>
                  <a:srgbClr val="F2A93B"/>
                </a:solidFill>
                <a:latin typeface="Calibri" pitchFamily="34" charset="0"/>
                <a:ea typeface="Calibri" pitchFamily="34" charset="-122"/>
                <a:cs typeface="Calibri" pitchFamily="34" charset="-120"/>
              </a:rPr>
              <a:t>URBANCART ANALYTICS TERM PROJECT</a:t>
            </a:r>
            <a:endParaRPr lang="en-US" sz="1400" dirty="0"/>
          </a:p>
        </p:txBody>
      </p:sp>
      <p:sp>
        <p:nvSpPr>
          <p:cNvPr id="4" name="Text 2"/>
          <p:cNvSpPr/>
          <p:nvPr/>
        </p:nvSpPr>
        <p:spPr>
          <a:xfrm>
            <a:off x="822960" y="2514600"/>
            <a:ext cx="10515600" cy="146304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5" name="Text 3"/>
          <p:cNvSpPr/>
          <p:nvPr/>
        </p:nvSpPr>
        <p:spPr>
          <a:xfrm>
            <a:off x="822960" y="3931920"/>
            <a:ext cx="9601200" cy="914400"/>
          </a:xfrm>
          <a:prstGeom prst="rect">
            <a:avLst/>
          </a:prstGeom>
          <a:noFill/>
          <a:ln/>
        </p:spPr>
        <p:txBody>
          <a:bodyPr wrap="square" lIns="0" tIns="0" rIns="0" bIns="0"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Questions &amp; Discussion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1463</Words>
  <Application>Microsoft Office PowerPoint</Application>
  <PresentationFormat>Widescreen</PresentationFormat>
  <Paragraphs>207</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Digital Intern 2</cp:lastModifiedBy>
  <cp:revision>2</cp:revision>
  <dcterms:created xsi:type="dcterms:W3CDTF">2026-08-11T11:02:52Z</dcterms:created>
  <dcterms:modified xsi:type="dcterms:W3CDTF">2026-08-11T15:30:53Z</dcterms:modified>
</cp:coreProperties>
</file>